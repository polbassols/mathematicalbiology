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36"/>
  </p:sldMasterIdLst>
  <p:notesMasterIdLst>
    <p:notesMasterId r:id="rId58"/>
  </p:notesMasterIdLst>
  <p:handoutMasterIdLst>
    <p:handoutMasterId r:id="rId59"/>
  </p:handoutMasterIdLst>
  <p:sldIdLst>
    <p:sldId id="256" r:id="rId37"/>
    <p:sldId id="262" r:id="rId38"/>
    <p:sldId id="265" r:id="rId39"/>
    <p:sldId id="285" r:id="rId40"/>
    <p:sldId id="269" r:id="rId41"/>
    <p:sldId id="266" r:id="rId42"/>
    <p:sldId id="275" r:id="rId43"/>
    <p:sldId id="282" r:id="rId44"/>
    <p:sldId id="283" r:id="rId45"/>
    <p:sldId id="274" r:id="rId46"/>
    <p:sldId id="267" r:id="rId47"/>
    <p:sldId id="279" r:id="rId48"/>
    <p:sldId id="281" r:id="rId49"/>
    <p:sldId id="284" r:id="rId50"/>
    <p:sldId id="276" r:id="rId51"/>
    <p:sldId id="277" r:id="rId52"/>
    <p:sldId id="278" r:id="rId53"/>
    <p:sldId id="272" r:id="rId54"/>
    <p:sldId id="271" r:id="rId55"/>
    <p:sldId id="273" r:id="rId56"/>
    <p:sldId id="264" r:id="rId57"/>
  </p:sldIdLst>
  <p:sldSz cx="12190413" cy="6858000"/>
  <p:notesSz cx="6858000" cy="9144000"/>
  <p:custDataLst>
    <p:tags r:id="rId60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D01D9F-CC67-0EBF-3BA8-25421792A0AB}" name="Pol Bassols Armengol" initials="PA" userId="S::s253606@dtu.dk::7a1defaf-e1af-4ce5-ab7f-d72683630732" providerId="AD"/>
  <p188:author id="{4A07F8A3-A7AC-28D5-FFB1-C7FF7214FF25}" name="Azra Su Erol" initials="AE" userId="S::s253608@dtu.dk::64b1b333-cf25-4655-9620-04de60a03e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48"/>
    <a:srgbClr val="1FD082"/>
    <a:srgbClr val="2F3EEA"/>
    <a:srgbClr val="FFFFFF"/>
    <a:srgbClr val="990000"/>
    <a:srgbClr val="000000"/>
    <a:srgbClr val="FFCC00"/>
    <a:srgbClr val="FF6600"/>
    <a:srgbClr val="FF0000"/>
    <a:srgbClr val="FF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4B43F-63CC-0E06-A4D8-49F874497DBF}" v="62" dt="2026-09-02T15:08:05.830"/>
    <p1510:client id="{48213B5E-1B15-5770-A989-84B4D1A3F4A2}" v="78" dt="2026-09-02T12:04:19.579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1"/>
    <p:restoredTop sz="69959"/>
  </p:normalViewPr>
  <p:slideViewPr>
    <p:cSldViewPr snapToGrid="0">
      <p:cViewPr varScale="1">
        <p:scale>
          <a:sx n="86" d="100"/>
          <a:sy n="86" d="100"/>
        </p:scale>
        <p:origin x="1752" y="192"/>
      </p:cViewPr>
      <p:guideLst/>
    </p:cSldViewPr>
  </p:slideViewPr>
  <p:outlineViewPr>
    <p:cViewPr>
      <p:scale>
        <a:sx n="33" d="100"/>
        <a:sy n="33" d="100"/>
      </p:scale>
      <p:origin x="0" y="-9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slide" Target="slides/slide6.xml"/><Relationship Id="rId47" Type="http://schemas.openxmlformats.org/officeDocument/2006/relationships/slide" Target="slides/slide11.xml"/><Relationship Id="rId50" Type="http://schemas.openxmlformats.org/officeDocument/2006/relationships/slide" Target="slides/slide14.xml"/><Relationship Id="rId55" Type="http://schemas.openxmlformats.org/officeDocument/2006/relationships/slide" Target="slides/slide19.xml"/><Relationship Id="rId63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slide" Target="slides/slide1.xml"/><Relationship Id="rId40" Type="http://schemas.openxmlformats.org/officeDocument/2006/relationships/slide" Target="slides/slide4.xml"/><Relationship Id="rId45" Type="http://schemas.openxmlformats.org/officeDocument/2006/relationships/slide" Target="slides/slide9.xml"/><Relationship Id="rId53" Type="http://schemas.openxmlformats.org/officeDocument/2006/relationships/slide" Target="slides/slide17.xml"/><Relationship Id="rId58" Type="http://schemas.openxmlformats.org/officeDocument/2006/relationships/notesMaster" Target="notesMasters/notesMaster1.xml"/><Relationship Id="rId66" Type="http://schemas.microsoft.com/office/2018/10/relationships/authors" Target="authors.xml"/><Relationship Id="rId5" Type="http://schemas.openxmlformats.org/officeDocument/2006/relationships/customXml" Target="../customXml/item5.xml"/><Relationship Id="rId61" Type="http://schemas.openxmlformats.org/officeDocument/2006/relationships/presProps" Target="presProps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slide" Target="slides/slide7.xml"/><Relationship Id="rId48" Type="http://schemas.openxmlformats.org/officeDocument/2006/relationships/slide" Target="slides/slide12.xml"/><Relationship Id="rId56" Type="http://schemas.openxmlformats.org/officeDocument/2006/relationships/slide" Target="slides/slide20.xml"/><Relationship Id="rId64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slide" Target="slides/slide15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slide" Target="slides/slide2.xml"/><Relationship Id="rId46" Type="http://schemas.openxmlformats.org/officeDocument/2006/relationships/slide" Target="slides/slide10.xml"/><Relationship Id="rId59" Type="http://schemas.openxmlformats.org/officeDocument/2006/relationships/handoutMaster" Target="handoutMasters/handoutMaster1.xml"/><Relationship Id="rId20" Type="http://schemas.openxmlformats.org/officeDocument/2006/relationships/customXml" Target="../customXml/item20.xml"/><Relationship Id="rId41" Type="http://schemas.openxmlformats.org/officeDocument/2006/relationships/slide" Target="slides/slide5.xml"/><Relationship Id="rId54" Type="http://schemas.openxmlformats.org/officeDocument/2006/relationships/slide" Target="slides/slide18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slideMaster" Target="slideMasters/slideMaster1.xml"/><Relationship Id="rId49" Type="http://schemas.openxmlformats.org/officeDocument/2006/relationships/slide" Target="slides/slide13.xml"/><Relationship Id="rId57" Type="http://schemas.openxmlformats.org/officeDocument/2006/relationships/slide" Target="slides/slide2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" Target="slides/slide8.xml"/><Relationship Id="rId52" Type="http://schemas.openxmlformats.org/officeDocument/2006/relationships/slide" Target="slides/slide16.xml"/><Relationship Id="rId60" Type="http://schemas.openxmlformats.org/officeDocument/2006/relationships/tags" Target="tags/tag1.xml"/><Relationship Id="rId65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err="1"/>
              <a:t>Click</a:t>
            </a:r>
            <a:r>
              <a:rPr lang="da-DK"/>
              <a:t> to </a:t>
            </a:r>
            <a:r>
              <a:rPr lang="da-DK" err="1"/>
              <a:t>edit</a:t>
            </a:r>
            <a:r>
              <a:rPr lang="da-DK"/>
              <a:t> Master </a:t>
            </a:r>
            <a:r>
              <a:rPr lang="da-DK" err="1"/>
              <a:t>text</a:t>
            </a:r>
            <a:r>
              <a:rPr lang="da-DK"/>
              <a:t> </a:t>
            </a:r>
            <a:r>
              <a:rPr lang="da-DK" err="1"/>
              <a:t>styles</a:t>
            </a:r>
            <a:endParaRPr lang="da-DK"/>
          </a:p>
          <a:p>
            <a:pPr lvl="1"/>
            <a:r>
              <a:rPr lang="da-DK"/>
              <a:t>Second </a:t>
            </a:r>
            <a:r>
              <a:rPr lang="da-DK" err="1"/>
              <a:t>level</a:t>
            </a:r>
            <a:endParaRPr lang="da-DK"/>
          </a:p>
          <a:p>
            <a:pPr lvl="2"/>
            <a:r>
              <a:rPr lang="da-DK"/>
              <a:t>Third </a:t>
            </a:r>
            <a:r>
              <a:rPr lang="da-DK" err="1"/>
              <a:t>level</a:t>
            </a:r>
            <a:endParaRPr lang="da-DK"/>
          </a:p>
          <a:p>
            <a:pPr lvl="3"/>
            <a:r>
              <a:rPr lang="da-DK" err="1"/>
              <a:t>Fourth</a:t>
            </a:r>
            <a:r>
              <a:rPr lang="da-DK"/>
              <a:t> </a:t>
            </a:r>
            <a:r>
              <a:rPr lang="da-DK" err="1"/>
              <a:t>level</a:t>
            </a:r>
            <a:endParaRPr lang="da-DK"/>
          </a:p>
          <a:p>
            <a:pPr lvl="4"/>
            <a:r>
              <a:rPr lang="da-DK"/>
              <a:t>Fifth </a:t>
            </a:r>
            <a:r>
              <a:rPr lang="da-DK" err="1"/>
              <a:t>level</a:t>
            </a:r>
            <a:endParaRPr lang="da-DK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41563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Ringed seals are the main prey of polar bears, which will catch one seal about every five and a half days.</a:t>
            </a:r>
          </a:p>
          <a:p>
            <a:r>
              <a:rPr lang="en-US" dirty="0"/>
              <a:t>https://</a:t>
            </a:r>
            <a:r>
              <a:rPr lang="en-US" dirty="0" err="1"/>
              <a:t>www.nathab.com</a:t>
            </a:r>
            <a:r>
              <a:rPr lang="en-US" dirty="0"/>
              <a:t>/know-before-you-go/</a:t>
            </a:r>
            <a:r>
              <a:rPr lang="en-US" dirty="0" err="1"/>
              <a:t>alaska</a:t>
            </a:r>
            <a:r>
              <a:rPr lang="en-US" dirty="0"/>
              <a:t>-northern-adventures/</a:t>
            </a:r>
            <a:r>
              <a:rPr lang="en-US" dirty="0" err="1"/>
              <a:t>greenland</a:t>
            </a:r>
            <a:r>
              <a:rPr lang="en-US" dirty="0"/>
              <a:t>/wildlife-guide/ringed-seal-facts</a:t>
            </a:r>
          </a:p>
          <a:p>
            <a:endParaRPr lang="en-US" dirty="0"/>
          </a:p>
          <a:p>
            <a:r>
              <a:rPr lang="en-ES" dirty="0"/>
              <a:t>Densities found inshore in Scoresby Sund Fjord and in Kong Oscars Fjord in the southern part of the assessment area were 2.00 seals/km2 and 1.04 seals/km2, respectively (Born 1998). The average density in the total area (including offshore) is likely to be substantial less than 1 seal/km2.</a:t>
            </a:r>
          </a:p>
          <a:p>
            <a:r>
              <a:rPr lang="en-US" dirty="0"/>
              <a:t>https://</a:t>
            </a:r>
            <a:r>
              <a:rPr lang="en-US" dirty="0" err="1"/>
              <a:t>backend.orbit.dtu.dk</a:t>
            </a:r>
            <a:r>
              <a:rPr lang="en-US" dirty="0"/>
              <a:t>/</a:t>
            </a:r>
            <a:r>
              <a:rPr lang="en-US" dirty="0" err="1"/>
              <a:t>ws</a:t>
            </a:r>
            <a:r>
              <a:rPr lang="en-US" dirty="0"/>
              <a:t>/files/236261036/WGIEAGS_Report_2020_1_.pdf</a:t>
            </a:r>
          </a:p>
          <a:p>
            <a:endParaRPr lang="en-US" dirty="0"/>
          </a:p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Polar bear density was approximately 5 times lower within 50 km of subsistence hunting communities (0.06 bears 100 km</a:t>
            </a:r>
            <a:r>
              <a:rPr lang="en-ES" sz="1200" b="0" i="0" kern="12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-2</a:t>
            </a:r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) compared to the rest to the study area (0.31 bears 100 km</a:t>
            </a:r>
            <a:r>
              <a:rPr lang="en-ES" sz="1200" b="0" i="0" kern="1200" baseline="30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-2</a:t>
            </a:r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). The best estimate of abundance for the EG subpopulation, adjusted for animals located outside the sampling area, was 2275 bears (CV = 0.27, 95% CI = 1360-3807). 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https://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www.int-res.com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/journals/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esr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/articles/esr01479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1334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213D-4BFC-8D11-0C23-1598525F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7029D-0370-CD94-9EDD-8674D07E2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0B121-FFA7-F566-C680-8FA67AC18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In the wild, polar bears live an average of 15 to 18 years, although biologists have tagged a few bears in their early 30s. </a:t>
            </a:r>
          </a:p>
          <a:p>
            <a:r>
              <a:rPr lang="en-GB" dirty="0"/>
              <a:t>https://</a:t>
            </a:r>
            <a:r>
              <a:rPr lang="en-GB" dirty="0" err="1"/>
              <a:t>polarbearsinternational.org</a:t>
            </a:r>
            <a:r>
              <a:rPr lang="en-GB" dirty="0"/>
              <a:t>/polar-bears/polar-bear-facts/life-cycle/</a:t>
            </a:r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B11EC-0C83-C423-B3A6-1BF422805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288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9928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DE43-7CC7-C056-3090-296D7748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F8F62-B255-4FDE-AE2E-670AFE532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C732F-AEF3-7009-1EAD-68BF1235E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581F4-FC30-3C55-A215-62E7E8110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3614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E342-496A-EEE2-A86A-D346A57F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2F966-4825-1094-29BE-CD3B6E1E7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C16C3-C92A-B94C-A37C-C2A5C7C85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In the wild, polar bears live an average of 15 to 18 years, although biologists have tagged a few bears in their early 30s. </a:t>
            </a:r>
          </a:p>
          <a:p>
            <a:r>
              <a:rPr lang="en-GB" dirty="0"/>
              <a:t>https://</a:t>
            </a:r>
            <a:r>
              <a:rPr lang="en-GB" dirty="0" err="1"/>
              <a:t>polarbearsinternational.org</a:t>
            </a:r>
            <a:r>
              <a:rPr lang="en-GB" dirty="0"/>
              <a:t>/polar-bears/polar-bear-facts/life-cycle/</a:t>
            </a:r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D2C2-9B52-FEDF-F1E4-C3DC63CFC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7813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nammco.no</a:t>
            </a:r>
            <a:r>
              <a:rPr lang="en-GB" dirty="0"/>
              <a:t>/ringed-seal/?</a:t>
            </a:r>
            <a:r>
              <a:rPr lang="en-GB" dirty="0" err="1"/>
              <a:t>utm_source</a:t>
            </a:r>
            <a:r>
              <a:rPr lang="en-GB" dirty="0"/>
              <a:t>=chatgpt.com#1475844711542-eedf1c7b-5dde</a:t>
            </a:r>
          </a:p>
          <a:p>
            <a:r>
              <a:rPr lang="en-GB" dirty="0"/>
              <a:t>Estimated value for x = 8000 based on catches reports</a:t>
            </a:r>
          </a:p>
          <a:p>
            <a:endParaRPr lang="en-GB" dirty="0"/>
          </a:p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Over the next 34 years (approximately three polar bear generations) and assuming a 2:1 male‐to‐female harvest sex ratio, the starting sustainable harvest ranged from 63 bears/year in the absence of scientific monitoring, to 93 bears/year if updated demographic parameters are estimated after 15 years and used to adjust the harvest, if necessary. We also identified an intermediate harvest strategy of up to 78 bears/year that requires a moderate level of monitoring and uses a threshold harvest rule. </a:t>
            </a:r>
          </a:p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I will assume an unssutainable case of 100 polar bears / year</a:t>
            </a:r>
          </a:p>
          <a:p>
            <a:r>
              <a:rPr lang="en-GB" dirty="0"/>
              <a:t>https://</a:t>
            </a:r>
            <a:r>
              <a:rPr lang="en-GB" dirty="0" err="1"/>
              <a:t>www.researchgate.net</a:t>
            </a:r>
            <a:r>
              <a:rPr lang="en-GB" dirty="0"/>
              <a:t>/publication/411848467_Evaluating_harvest_risk_with_limited_data_A_case_study_on_polar_bears_Ursus_maritimus_in_East_Greenland</a:t>
            </a:r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3976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2285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BDE2-3F5C-50C6-D02A-217F8205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D80D8-D137-26D3-701A-317AFA2D1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2C2E6-C5F0-4D55-AACA-E6BE74CB9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9744D-BF3D-0308-7DA9-95032EEC5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748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BA8E-9A61-3F17-FE3A-16428523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CDFAD-94DF-9A82-CE43-3C7669B2C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2CB07-6E20-E4C5-D874-FA3A00095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In the wild, polar bears live an average of 15 to 18 years, although biologists have tagged a few bears in their early 30s. </a:t>
            </a:r>
          </a:p>
          <a:p>
            <a:r>
              <a:rPr lang="en-GB" dirty="0"/>
              <a:t>https://</a:t>
            </a:r>
            <a:r>
              <a:rPr lang="en-GB" dirty="0" err="1"/>
              <a:t>polarbearsinternational.org</a:t>
            </a:r>
            <a:r>
              <a:rPr lang="en-GB" dirty="0"/>
              <a:t>/polar-bears/polar-bear-facts/life-cycle/</a:t>
            </a:r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9A085-FC3D-D7C6-1911-7AECA803A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0330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47BA-2E3D-666F-C993-D2CE2CE4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54833-F3A8-6E42-4EAB-BD696BDDE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C9945-9E3C-6AD5-D226-4734F48D1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nammco.no</a:t>
            </a:r>
            <a:r>
              <a:rPr lang="en-GB" dirty="0"/>
              <a:t>/ringed-seal/?</a:t>
            </a:r>
            <a:r>
              <a:rPr lang="en-GB" dirty="0" err="1"/>
              <a:t>utm_source</a:t>
            </a:r>
            <a:r>
              <a:rPr lang="en-GB" dirty="0"/>
              <a:t>=chatgpt.com#1475844711542-eedf1c7b-5dde</a:t>
            </a:r>
          </a:p>
          <a:p>
            <a:r>
              <a:rPr lang="en-GB" dirty="0"/>
              <a:t>Estimated value for x = 8000 based on catches reports</a:t>
            </a:r>
          </a:p>
          <a:p>
            <a:endParaRPr lang="en-GB" dirty="0"/>
          </a:p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Over the next 34 years (approximately three polar bear generations) and assuming a 2:1 male‐to‐female harvest sex ratio, the starting sustainable harvest ranged from 63 bears/year in the absence of scientific monitoring, to 93 bears/year if updated demographic parameters are estimated after 15 years and used to adjust the harvest, if necessary. We also identified an intermediate harvest strategy of up to 78 bears/year that requires a moderate level of monitoring and uses a threshold harvest rule. </a:t>
            </a:r>
          </a:p>
          <a:p>
            <a:r>
              <a:rPr lang="en-E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ＭＳ Ｐゴシック" pitchFamily="-80" charset="-128"/>
                <a:cs typeface="+mn-cs"/>
              </a:rPr>
              <a:t>I will assume an unssutainable case of 100 polar bears / year</a:t>
            </a:r>
          </a:p>
          <a:p>
            <a:r>
              <a:rPr lang="en-GB" dirty="0"/>
              <a:t>https://</a:t>
            </a:r>
            <a:r>
              <a:rPr lang="en-GB" dirty="0" err="1"/>
              <a:t>www.researchgate.net</a:t>
            </a:r>
            <a:r>
              <a:rPr lang="en-GB" dirty="0"/>
              <a:t>/publication/411848467_Evaluating_harvest_risk_with_limited_data_A_case_study_on_polar_bears_Ursus_maritimus_in_East_Greenland</a:t>
            </a:r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68E30-39D9-2265-ACE7-11C87B488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685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C6F7-D485-A91C-9DC8-B18AEB86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4D454-6C18-F94D-C3B8-9993D5A4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C5771-649B-6FF7-B942-BBB7B4E65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5222B-0B73-3A82-6CC9-78E310AD5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1000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F284-92CF-37B2-55AD-74E3CD33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126E4-A446-8D07-7664-DBCA35A12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9646B-6E55-594A-80BD-46DAEE3CB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FA577-F9E0-76C5-DC94-CD75BD8E7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8591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8726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8439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5483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398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noProof="0"/>
              <a:t>Asıl başlık stilini düzenlemek için tıklayın</a:t>
            </a:r>
            <a:endParaRPr lang="en-GB" noProof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tr-TR" noProof="0"/>
              <a:t>Asıl alt başlık stilini düzenlemek için tıklayın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ED6B-849D-A5D2-D1F0-06706D23B24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tr-TR" noProof="0"/>
              <a:t>Asıl başlık stilini düzenlemek için tıklayın</a:t>
            </a:r>
            <a:endParaRPr lang="en-GB" noProof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tr-TR" noProof="0"/>
              <a:t>Asıl alt başlık stilini düzenlemek için tıklayın</a:t>
            </a:r>
            <a:endParaRPr lang="en-GB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19C4E-D6B8-50A2-A635-868FF289F99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4120-CAD7-4F92-7378-98D88CD0BD6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12B94-0222-C98A-FFE9-2FEFA87344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907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35DC-D232-9C90-9C31-AA00AE5CF93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0B2F1-B091-E656-C4DE-C556B5DA13D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add title one line</a:t>
            </a:r>
            <a:endParaRPr lang="en-GB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654E4-A51C-0D45-3654-72479798316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FA591-5B6F-3582-D42E-64EB81D7B2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43F2E-763E-6678-3468-8C45A82F1A9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7174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başlık stilini düzenlemek için tıklayın</a:t>
            </a:r>
            <a:endParaRPr lang="da-DK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>
                <a:solidFill>
                  <a:schemeClr val="bg1"/>
                </a:solidFill>
                <a:effectLst/>
                <a:latin typeface="+mj-lt"/>
                <a:ea typeface="ＭＳ Ｐゴシック" panose="020B0600070205080204" pitchFamily="34" charset="-128"/>
                <a:cs typeface="+mn-cs"/>
              </a:rPr>
              <a:t>Technical University of Denmark</a:t>
            </a:r>
            <a:endParaRPr lang="da-DK" sz="7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7174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C6FF03-B8A1-16DC-2053-E21EDEFDF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10.xml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hab.com/know-before-you-go/alaska-northern-adventures/greenland/wildlife-guide/ringed-seal-fact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nammco.no/ringed-seal/?utm_source=chatgpt.com" TargetMode="External"/><Relationship Id="rId4" Type="http://schemas.openxmlformats.org/officeDocument/2006/relationships/hyperlink" Target="https://polarbearsinternational.org/polar-bears/polar-bear-facts/life-cyc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649DB-2BAE-4024-4999-3BD515E1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00" y="1115383"/>
            <a:ext cx="10840028" cy="1324043"/>
          </a:xfrm>
        </p:spPr>
        <p:txBody>
          <a:bodyPr/>
          <a:lstStyle/>
          <a:p>
            <a:r>
              <a:rPr lang="en-GB" sz="4000" b="0" dirty="0">
                <a:ea typeface="+mj-lt"/>
                <a:cs typeface="+mj-lt"/>
              </a:rPr>
              <a:t>Predator-Prey modelling.</a:t>
            </a:r>
            <a:br>
              <a:rPr lang="en-GB" sz="4000" b="0" dirty="0">
                <a:ea typeface="+mj-lt"/>
                <a:cs typeface="+mj-lt"/>
              </a:rPr>
            </a:br>
            <a:r>
              <a:rPr lang="en-GB" sz="4000" b="0" dirty="0">
                <a:ea typeface="+mj-lt"/>
                <a:cs typeface="+mj-lt"/>
              </a:rPr>
              <a:t>Polar bear – Seal interaction in the Arctic</a:t>
            </a:r>
            <a:endParaRPr lang="es-E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tr-TR" sz="800" b="1" dirty="0" err="1">
                <a:ea typeface="ＭＳ Ｐゴシック"/>
                <a:cs typeface="Arial"/>
              </a:rPr>
              <a:t>Predator-Prey</a:t>
            </a:r>
            <a:r>
              <a:rPr lang="tr-TR" sz="800" b="1" dirty="0">
                <a:ea typeface="ＭＳ Ｐゴシック"/>
                <a:cs typeface="Arial"/>
              </a:rPr>
              <a:t> model</a:t>
            </a:r>
            <a:endParaRPr lang="es-ES" sz="80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>
                <a:ea typeface="ＭＳ Ｐゴシック"/>
              </a:rPr>
              <a:pPr/>
              <a:t>2</a:t>
            </a:fld>
            <a:endParaRPr lang="en-GB">
              <a:ea typeface="ＭＳ Ｐゴシック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2F34B-B5F3-6431-7E4B-333B64803D0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tr-TR" err="1"/>
              <a:t>Srping</a:t>
            </a:r>
            <a:r>
              <a:rPr lang="tr-TR"/>
              <a:t> 2026</a:t>
            </a:r>
            <a:endParaRPr lang="en-GB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2E902B8-7947-4D82-811E-68C9BABB70D1}"/>
              </a:ext>
            </a:extLst>
          </p:cNvPr>
          <p:cNvSpPr txBox="1"/>
          <p:nvPr/>
        </p:nvSpPr>
        <p:spPr>
          <a:xfrm>
            <a:off x="804600" y="4066783"/>
            <a:ext cx="2899424" cy="5437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432"/>
              </a:spcBef>
            </a:pPr>
            <a:r>
              <a:rPr lang="tr-TR" u="sng" dirty="0">
                <a:solidFill>
                  <a:schemeClr val="bg1"/>
                </a:solidFill>
                <a:latin typeface="+mn-lt"/>
                <a:ea typeface="ＭＳ Ｐゴシック"/>
              </a:rPr>
              <a:t>MB – Fall 2026</a:t>
            </a:r>
          </a:p>
          <a:p>
            <a:pPr>
              <a:spcBef>
                <a:spcPts val="432"/>
              </a:spcBef>
            </a:pPr>
            <a:r>
              <a:rPr lang="tr-TR" dirty="0">
                <a:solidFill>
                  <a:schemeClr val="bg1"/>
                </a:solidFill>
                <a:latin typeface="+mn-lt"/>
                <a:ea typeface="ＭＳ Ｐゴシック"/>
              </a:rPr>
              <a:t>Pol Bassols – s253606</a:t>
            </a:r>
            <a:endParaRPr lang="tr-TR" dirty="0">
              <a:solidFill>
                <a:schemeClr val="bg1"/>
              </a:solidFill>
              <a:latin typeface="+mn-lt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84408D-9552-5298-CAF2-61744CDCD093}"/>
              </a:ext>
            </a:extLst>
          </p:cNvPr>
          <p:cNvSpPr/>
          <p:nvPr/>
        </p:nvSpPr>
        <p:spPr bwMode="auto">
          <a:xfrm>
            <a:off x="795837" y="6616868"/>
            <a:ext cx="2666453" cy="161955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0FB0B11F-D7C8-DADA-84B3-61554E29B585}"/>
              </a:ext>
            </a:extLst>
          </p:cNvPr>
          <p:cNvSpPr txBox="1">
            <a:spLocks/>
          </p:cNvSpPr>
          <p:nvPr/>
        </p:nvSpPr>
        <p:spPr>
          <a:xfrm>
            <a:off x="406484" y="6540549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l"/>
            <a:r>
              <a:rPr lang="tr-TR" sz="800" b="1" dirty="0">
                <a:ea typeface="ＭＳ Ｐゴシック"/>
                <a:cs typeface="Arial"/>
              </a:rPr>
              <a:t>Fall 2026 </a:t>
            </a:r>
            <a:r>
              <a:rPr lang="en-US" sz="800" b="1" dirty="0">
                <a:ea typeface="ＭＳ Ｐゴシック"/>
                <a:cs typeface="Arial"/>
              </a:rPr>
              <a:t> Technical University of Denmark</a:t>
            </a:r>
            <a:endParaRPr lang="en-US" sz="800" b="1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710EE-E471-AD1C-1FE0-8842F086EB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46" t="7836" r="3786" b="9356"/>
          <a:stretch>
            <a:fillRect/>
          </a:stretch>
        </p:blipFill>
        <p:spPr>
          <a:xfrm>
            <a:off x="5903684" y="2549350"/>
            <a:ext cx="3734595" cy="3578607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9570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B8C1-C216-60F9-FD71-D2961D32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00" y="212920"/>
            <a:ext cx="4811180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Polar Bear and Ringed seal in Eastern Greenland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6B47-CB81-1386-3DE8-EBB4FB95B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E803-05E5-3DE2-B369-A0FF377C0F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F3635-093D-5596-C58A-2A8A8680710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C41DA-FC5E-FDE2-05B5-25CE52B6A334}"/>
              </a:ext>
            </a:extLst>
          </p:cNvPr>
          <p:cNvSpPr txBox="1"/>
          <p:nvPr/>
        </p:nvSpPr>
        <p:spPr>
          <a:xfrm>
            <a:off x="1357200" y="1467443"/>
            <a:ext cx="5052953" cy="1138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P</a:t>
            </a:r>
            <a:r>
              <a:rPr lang="en-ES" dirty="0">
                <a:latin typeface="+mn-lt"/>
              </a:rPr>
              <a:t>opulations parameter</a:t>
            </a:r>
          </a:p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Eastern Greenland</a:t>
            </a:r>
          </a:p>
          <a:p>
            <a:pPr lvl="1">
              <a:spcBef>
                <a:spcPts val="432"/>
              </a:spcBef>
            </a:pPr>
            <a:endParaRPr lang="en-ES" dirty="0">
              <a:latin typeface="+mn-lt"/>
            </a:endParaRPr>
          </a:p>
          <a:p>
            <a:pPr marL="285750" indent="-285750">
              <a:spcBef>
                <a:spcPts val="432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S</a:t>
            </a:r>
            <a:r>
              <a:rPr lang="en-ES" dirty="0">
                <a:latin typeface="+mn-lt"/>
              </a:rPr>
              <a:t>imulated period 100 years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01C25CE-89E6-4E88-96B8-F6033E38E7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136720"/>
                  </p:ext>
                </p:extLst>
              </p:nvPr>
            </p:nvGraphicFramePr>
            <p:xfrm>
              <a:off x="548709" y="3834364"/>
              <a:ext cx="7699626" cy="2459990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2318131">
                      <a:extLst>
                        <a:ext uri="{9D8B030D-6E8A-4147-A177-3AD203B41FA5}">
                          <a16:colId xmlns:a16="http://schemas.microsoft.com/office/drawing/2014/main" val="1831139228"/>
                        </a:ext>
                      </a:extLst>
                    </a:gridCol>
                    <a:gridCol w="973455">
                      <a:extLst>
                        <a:ext uri="{9D8B030D-6E8A-4147-A177-3AD203B41FA5}">
                          <a16:colId xmlns:a16="http://schemas.microsoft.com/office/drawing/2014/main" val="3740240967"/>
                        </a:ext>
                      </a:extLst>
                    </a:gridCol>
                    <a:gridCol w="1540193">
                      <a:extLst>
                        <a:ext uri="{9D8B030D-6E8A-4147-A177-3AD203B41FA5}">
                          <a16:colId xmlns:a16="http://schemas.microsoft.com/office/drawing/2014/main" val="1139679667"/>
                        </a:ext>
                      </a:extLst>
                    </a:gridCol>
                    <a:gridCol w="2867847">
                      <a:extLst>
                        <a:ext uri="{9D8B030D-6E8A-4147-A177-3AD203B41FA5}">
                          <a16:colId xmlns:a16="http://schemas.microsoft.com/office/drawing/2014/main" val="9293822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6841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Polar bears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oMath>
                          </a14:m>
                          <a:r>
                            <a:rPr lang="en-ES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2,275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bears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2698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Polar-bear density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ES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0.31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bears/100 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12697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sz="1600" dirty="0"/>
                            <a:t>Model area (</a:t>
                          </a:r>
                          <a14:m>
                            <m:oMath xmlns:m="http://schemas.openxmlformats.org/officeDocument/2006/math">
                              <m:r>
                                <a:rPr lang="en-ES" sz="16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ES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733,871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s-ES" sz="1600" b="0" i="0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s-ES" sz="16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  <m:d>
                                      <m:dPr>
                                        <m:ctrlPr>
                                          <a:rPr lang="es-ES" sz="16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ES" sz="1600" b="0" i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E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ES" sz="16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ES" sz="16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sub>
                                    </m:sSub>
                                    <m:r>
                                      <a:rPr lang="es-ES" sz="1600" b="0" i="0" smtClean="0">
                                        <a:latin typeface="Cambria Math" panose="02040503050406030204" pitchFamily="18" charset="0"/>
                                      </a:rPr>
                                      <m:t>/100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50768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Seal density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oMath>
                          </a14:m>
                          <a:r>
                            <a:rPr lang="en-ES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seal/km²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Estimated 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247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Initial seals (</a:t>
                          </a:r>
                          <a14:m>
                            <m:oMath xmlns:m="http://schemas.openxmlformats.org/officeDocument/2006/math"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oMath>
                          </a14:m>
                          <a:r>
                            <a:rPr lang="en-ES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733,871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seals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baseline="0" dirty="0"/>
                            <a:t> </a:t>
                          </a:r>
                          <a:r>
                            <a:rPr lang="en-ES" sz="16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s-ES" sz="16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d>
                                <m:dPr>
                                  <m:ctrlPr>
                                    <a:rPr lang="es-ES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6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ES" sz="16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ES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oMath>
                          </a14:m>
                          <a:endParaRPr lang="en-E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01324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01C25CE-89E6-4E88-96B8-F6033E38E7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6136720"/>
                  </p:ext>
                </p:extLst>
              </p:nvPr>
            </p:nvGraphicFramePr>
            <p:xfrm>
              <a:off x="548709" y="3834364"/>
              <a:ext cx="7699626" cy="2459990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2318131">
                      <a:extLst>
                        <a:ext uri="{9D8B030D-6E8A-4147-A177-3AD203B41FA5}">
                          <a16:colId xmlns:a16="http://schemas.microsoft.com/office/drawing/2014/main" val="1831139228"/>
                        </a:ext>
                      </a:extLst>
                    </a:gridCol>
                    <a:gridCol w="973455">
                      <a:extLst>
                        <a:ext uri="{9D8B030D-6E8A-4147-A177-3AD203B41FA5}">
                          <a16:colId xmlns:a16="http://schemas.microsoft.com/office/drawing/2014/main" val="3740240967"/>
                        </a:ext>
                      </a:extLst>
                    </a:gridCol>
                    <a:gridCol w="1540193">
                      <a:extLst>
                        <a:ext uri="{9D8B030D-6E8A-4147-A177-3AD203B41FA5}">
                          <a16:colId xmlns:a16="http://schemas.microsoft.com/office/drawing/2014/main" val="1139679667"/>
                        </a:ext>
                      </a:extLst>
                    </a:gridCol>
                    <a:gridCol w="2867847">
                      <a:extLst>
                        <a:ext uri="{9D8B030D-6E8A-4147-A177-3AD203B41FA5}">
                          <a16:colId xmlns:a16="http://schemas.microsoft.com/office/drawing/2014/main" val="9293822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168413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00000" r="-232240" b="-4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2,275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bears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26980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06897" r="-232240" b="-3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0.31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bears/100 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1269766"/>
                      </a:ext>
                    </a:extLst>
                  </a:tr>
                  <a:tr h="60579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85417" r="-232240" b="-135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733,871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584" t="-185417" r="-442" b="-1354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0768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456667" r="-23224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/>
                            <a:t>seal/km²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Estimated 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82472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575862" r="-232240" b="-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733,871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sz="1600" dirty="0"/>
                            <a:t>seals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584" t="-575862" r="-442" b="-20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013248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A263287-C9BE-56E3-2C9E-7EDE43C66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635" y="1169915"/>
            <a:ext cx="3474415" cy="45181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EC02D7B-815C-5423-6716-1EDAF1EAA342}"/>
              </a:ext>
            </a:extLst>
          </p:cNvPr>
          <p:cNvSpPr txBox="1"/>
          <p:nvPr/>
        </p:nvSpPr>
        <p:spPr>
          <a:xfrm>
            <a:off x="8464635" y="5688709"/>
            <a:ext cx="340317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ES" sz="1000" dirty="0">
                <a:latin typeface="+mn-lt"/>
              </a:rPr>
              <a:t>Fig.1 Polar Bear distribution in Greenland. Crockford (2022)</a:t>
            </a:r>
          </a:p>
        </p:txBody>
      </p:sp>
    </p:spTree>
    <p:extLst>
      <p:ext uri="{BB962C8B-B14F-4D97-AF65-F5344CB8AC3E}">
        <p14:creationId xmlns:p14="http://schemas.microsoft.com/office/powerpoint/2010/main" val="332237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A79F8-9FFC-F9F0-E98D-9EE4069D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61B2D-3A44-1F57-9F53-D2A22872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es-ES"/>
              <a:t>The </a:t>
            </a:r>
            <a:r>
              <a:rPr lang="es-ES" err="1"/>
              <a:t>model</a:t>
            </a:r>
            <a:r>
              <a:rPr lang="es-ES"/>
              <a:t>: </a:t>
            </a:r>
            <a:r>
              <a:rPr lang="es-ES" err="1"/>
              <a:t>baseline</a:t>
            </a:r>
            <a:r>
              <a:rPr lang="es-ES"/>
              <a:t> sketch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9331E-B9EF-1F27-D1A2-9DD597299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26" y="2209766"/>
            <a:ext cx="9312374" cy="3538702"/>
          </a:xfrm>
          <a:prstGeom prst="rect">
            <a:avLst/>
          </a:prstGeom>
          <a:noFill/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CB0B0CE-806A-9B5B-4343-BF06D56717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err="1"/>
              <a:t>Predator-Prey</a:t>
            </a:r>
            <a:r>
              <a:rPr lang="tr-TR" b="1"/>
              <a:t> model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DABF26-CEA1-D588-1CB5-DCC0338BC0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401103CC-6762-3225-086B-A6F41387A5B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anchor="ctr">
            <a:normAutofit/>
          </a:bodyPr>
          <a:lstStyle/>
          <a:p>
            <a:r>
              <a:rPr lang="tr-TR"/>
              <a:t>Fall 2026 </a:t>
            </a:r>
            <a:r>
              <a:rPr lang="en-US"/>
              <a:t>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672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21C3EF5-DC84-1790-7788-D59059AEC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626" y="151723"/>
            <a:ext cx="9312374" cy="972716"/>
          </a:xfrm>
        </p:spPr>
        <p:txBody>
          <a:bodyPr/>
          <a:lstStyle/>
          <a:p>
            <a:r>
              <a:rPr lang="en-ES" dirty="0"/>
              <a:t>The model: parameters &amp; equations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1627B-F11E-8C64-0B13-D87D4584B1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29A57-6CE9-8E8E-EA6C-CB90E9B20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8450CA9-7471-4AAA-C485-37D6F4F40E7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D06380-B4C8-F8FC-BDCA-3A805B4170AD}"/>
                  </a:ext>
                </a:extLst>
              </p:cNvPr>
              <p:cNvSpPr txBox="1"/>
              <p:nvPr/>
            </p:nvSpPr>
            <p:spPr>
              <a:xfrm>
                <a:off x="2477458" y="1896701"/>
                <a:ext cx="1926047" cy="584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𝑟𝑁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𝑏𝑃𝑁</m:t>
                      </m:r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D06380-B4C8-F8FC-BDCA-3A805B41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458" y="1896701"/>
                <a:ext cx="1926047" cy="584327"/>
              </a:xfrm>
              <a:prstGeom prst="rect">
                <a:avLst/>
              </a:prstGeom>
              <a:blipFill>
                <a:blip r:embed="rId2"/>
                <a:stretch>
                  <a:fillRect l="-654" t="-2128" r="-654" b="-14894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AF70C1-9314-3467-E829-40430561670C}"/>
                  </a:ext>
                </a:extLst>
              </p:cNvPr>
              <p:cNvSpPr txBox="1"/>
              <p:nvPr/>
            </p:nvSpPr>
            <p:spPr>
              <a:xfrm>
                <a:off x="7264526" y="1896702"/>
                <a:ext cx="2448429" cy="584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𝑏𝑁𝑃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AF70C1-9314-3467-E829-404305616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526" y="1896702"/>
                <a:ext cx="2448429" cy="584327"/>
              </a:xfrm>
              <a:prstGeom prst="rect">
                <a:avLst/>
              </a:prstGeom>
              <a:blipFill>
                <a:blip r:embed="rId3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Content Placeholder 12">
                <a:extLst>
                  <a:ext uri="{FF2B5EF4-FFF2-40B4-BE49-F238E27FC236}">
                    <a16:creationId xmlns:a16="http://schemas.microsoft.com/office/drawing/2014/main" id="{3767622E-734D-A952-A797-AF9E909615E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3228692"/>
                  </p:ext>
                </p:extLst>
              </p:nvPr>
            </p:nvGraphicFramePr>
            <p:xfrm>
              <a:off x="1405402" y="3253290"/>
              <a:ext cx="9379608" cy="3050858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01516">
                      <a:extLst>
                        <a:ext uri="{9D8B030D-6E8A-4147-A177-3AD203B41FA5}">
                          <a16:colId xmlns:a16="http://schemas.microsoft.com/office/drawing/2014/main" val="3088269212"/>
                        </a:ext>
                      </a:extLst>
                    </a:gridCol>
                    <a:gridCol w="1446467">
                      <a:extLst>
                        <a:ext uri="{9D8B030D-6E8A-4147-A177-3AD203B41FA5}">
                          <a16:colId xmlns:a16="http://schemas.microsoft.com/office/drawing/2014/main" val="1981033731"/>
                        </a:ext>
                      </a:extLst>
                    </a:gridCol>
                    <a:gridCol w="1808480">
                      <a:extLst>
                        <a:ext uri="{9D8B030D-6E8A-4147-A177-3AD203B41FA5}">
                          <a16:colId xmlns:a16="http://schemas.microsoft.com/office/drawing/2014/main" val="550003071"/>
                        </a:ext>
                      </a:extLst>
                    </a:gridCol>
                    <a:gridCol w="2923145">
                      <a:extLst>
                        <a:ext uri="{9D8B030D-6E8A-4147-A177-3AD203B41FA5}">
                          <a16:colId xmlns:a16="http://schemas.microsoft.com/office/drawing/2014/main" val="15806474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313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Intrinsic seal growth (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0.1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yr⁻¹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Model 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917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Seal consumption (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73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seals/bear/year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Literature. 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lang="en-ES" dirty="0"/>
                            <a:t>1 seal/5 days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5491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Clearance rate (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ES">
                                    <a:latin typeface="Cambria Math" panose="02040503050406030204" pitchFamily="18" charset="0"/>
                                  </a:rPr>
                                  <m:t>9.947</m:t>
                                </m:r>
                                <m:r>
                                  <a:rPr lang="en-ES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ES" i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ES" i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ES" i="0"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E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km²/bear/year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E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ES" i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ES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ES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925183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Bear mortality (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0.0667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yr⁻¹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 Literature.15 year average lifespan. 1</a:t>
                          </a:r>
                          <a14:m>
                            <m:oMath xmlns:m="http://schemas.openxmlformats.org/officeDocument/2006/math">
                              <m:r>
                                <a:rPr lang="en-ES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lifespan</m:t>
                              </m:r>
                            </m:oMath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24406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Reproductive efficiency (</a:t>
                          </a: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ES" smtClean="0"/>
                                  <m:t>9.14×10−4</m:t>
                                </m:r>
                              </m:oMath>
                            </m:oMathPara>
                          </a14:m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bears/seal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E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E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ES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den>
                                </m:f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𝑏𝑁</m:t>
                                </m:r>
                              </m:oMath>
                            </m:oMathPara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13503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Content Placeholder 12">
                <a:extLst>
                  <a:ext uri="{FF2B5EF4-FFF2-40B4-BE49-F238E27FC236}">
                    <a16:creationId xmlns:a16="http://schemas.microsoft.com/office/drawing/2014/main" id="{3767622E-734D-A952-A797-AF9E909615E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3228692"/>
                  </p:ext>
                </p:extLst>
              </p:nvPr>
            </p:nvGraphicFramePr>
            <p:xfrm>
              <a:off x="1405402" y="3253290"/>
              <a:ext cx="9379608" cy="3050858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01516">
                      <a:extLst>
                        <a:ext uri="{9D8B030D-6E8A-4147-A177-3AD203B41FA5}">
                          <a16:colId xmlns:a16="http://schemas.microsoft.com/office/drawing/2014/main" val="3088269212"/>
                        </a:ext>
                      </a:extLst>
                    </a:gridCol>
                    <a:gridCol w="1446467">
                      <a:extLst>
                        <a:ext uri="{9D8B030D-6E8A-4147-A177-3AD203B41FA5}">
                          <a16:colId xmlns:a16="http://schemas.microsoft.com/office/drawing/2014/main" val="1981033731"/>
                        </a:ext>
                      </a:extLst>
                    </a:gridCol>
                    <a:gridCol w="1808480">
                      <a:extLst>
                        <a:ext uri="{9D8B030D-6E8A-4147-A177-3AD203B41FA5}">
                          <a16:colId xmlns:a16="http://schemas.microsoft.com/office/drawing/2014/main" val="550003071"/>
                        </a:ext>
                      </a:extLst>
                    </a:gridCol>
                    <a:gridCol w="2923145">
                      <a:extLst>
                        <a:ext uri="{9D8B030D-6E8A-4147-A177-3AD203B41FA5}">
                          <a16:colId xmlns:a16="http://schemas.microsoft.com/office/drawing/2014/main" val="158064741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1313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03333" r="-192885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0.1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yr⁻¹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Model 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9173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210345" r="-192885" b="-5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73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seals/bear/year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0346" t="-210345" r="-433" b="-54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491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310345" r="-192885" b="-4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1930" t="-310345" r="-328070" b="-44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km²/bear/year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0346" t="-310345" r="-433" b="-44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251838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65278" r="-192885" b="-7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0.0667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yr⁻¹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0346" t="-165278" r="-433" b="-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2440651"/>
                      </a:ext>
                    </a:extLst>
                  </a:tr>
                  <a:tr h="653098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367308" r="-192885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1930" t="-367308" r="-328070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bears/seal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0346" t="-367308" r="-433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13503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0766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EA11A-B5CC-3F9A-0B48-599B0AF2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38286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Results - baseline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3D877-16AA-7D0F-1381-8487C294F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E24CC-17A2-A7B1-D319-C6CDEC7EE4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CBB119-1C2F-2BD2-F86F-7B0216A55F13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6C1A7C-4849-D59A-CD62-B3D7AA968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60" y="1556974"/>
            <a:ext cx="5360953" cy="4213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506591-3924-A6E3-AADB-657791FBF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397" y="3429000"/>
            <a:ext cx="4071703" cy="30278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055D0B-3574-4936-CB1F-D495C0DC2D5B}"/>
              </a:ext>
            </a:extLst>
          </p:cNvPr>
          <p:cNvSpPr txBox="1"/>
          <p:nvPr/>
        </p:nvSpPr>
        <p:spPr>
          <a:xfrm>
            <a:off x="8019738" y="1019331"/>
            <a:ext cx="33182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en-ES" dirty="0">
                <a:latin typeface="+mn-lt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63044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B098D-1E3B-56B6-AF39-CA4F1636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5249-1819-E97D-A5CA-C2F91A137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38286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Results - baseline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F78E2-08A4-D306-AC44-36D54FFB22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388DB-5C68-B274-A4F6-2228C9D2C3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9CB5D14-66FA-B528-D8CA-55E7999A6D7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48AC4-FC02-BA64-BDB7-9B7E92E26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1258961"/>
            <a:ext cx="5546183" cy="434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1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7372-1D9B-8571-DA18-D19C33862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S" sz="5400" dirty="0"/>
              <a:t>Logistic growth and unsustainable removal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649C9-25EA-3410-E605-8D44CD495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ES" dirty="0"/>
              <a:t>Extended Scenario 1.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80868-10ED-A99C-7D2D-E6F82DC275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E2747-6B45-315B-7C2E-C105CA1BED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6C4623-180A-F832-4687-DA1F75DD4CE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6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70C6-A721-1487-9F69-E2ADBCE4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00912-7CAF-4C4D-C99D-8C5790C65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00" y="583048"/>
            <a:ext cx="7421195" cy="972716"/>
          </a:xfrm>
        </p:spPr>
        <p:txBody>
          <a:bodyPr/>
          <a:lstStyle/>
          <a:p>
            <a:r>
              <a:rPr lang="es-ES" sz="3200" dirty="0"/>
              <a:t>The </a:t>
            </a:r>
            <a:r>
              <a:rPr lang="es-ES" sz="3200" dirty="0" err="1"/>
              <a:t>model</a:t>
            </a:r>
            <a:r>
              <a:rPr lang="es-ES" sz="3200" dirty="0"/>
              <a:t>: sketch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A61F56-8409-0DEF-965A-6EA1DE732B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5AF590-1736-719A-9735-89D83031B6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0EC79E47-E084-3308-FFBF-50853FCA634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7130767F-C9F6-1121-6DD9-4F8807DA5DA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2744" y="1936948"/>
                <a:ext cx="4882793" cy="3449477"/>
              </a:xfrm>
            </p:spPr>
            <p:txBody>
              <a:bodyPr/>
              <a:lstStyle/>
              <a:p>
                <a:endParaRPr lang="en-ES" b="1" dirty="0"/>
              </a:p>
              <a:p>
                <a:r>
                  <a:rPr lang="en-ES" b="1" dirty="0"/>
                  <a:t>Logistic growth:</a:t>
                </a:r>
                <a:r>
                  <a:rPr lang="en-ES" dirty="0"/>
                  <a:t> Seal population growth is limited by a carrying capacity </a:t>
                </a:r>
                <a14:m>
                  <m:oMath xmlns:m="http://schemas.openxmlformats.org/officeDocument/2006/math">
                    <m:r>
                      <a:rPr lang="en-E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ES" dirty="0"/>
                  <a:t>, introducing density dependence. </a:t>
                </a:r>
              </a:p>
              <a:p>
                <a:pPr lvl="0" algn="just"/>
                <a:r>
                  <a:rPr lang="en-ES" b="1" dirty="0"/>
                  <a:t>Human removal:</a:t>
                </a:r>
                <a:r>
                  <a:rPr lang="en-ES" dirty="0"/>
                  <a:t> Local communities harvest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ES" dirty="0"/>
                  <a:t> polar bears over the sustainable range,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ES" dirty="0"/>
                  <a:t> seals per year, following the a business as usual, adding an additional mortality/removal term to both populations.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7130767F-C9F6-1121-6DD9-4F8807DA5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2744" y="1936948"/>
                <a:ext cx="4882793" cy="3449477"/>
              </a:xfrm>
              <a:blipFill>
                <a:blip r:embed="rId3"/>
                <a:stretch>
                  <a:fillRect l="-2591" r="-2850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BD71BD8-B8B8-4E38-9A2E-B14708153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77" y="1430885"/>
            <a:ext cx="5724174" cy="44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69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5C08-1753-BC9E-9A5A-5B5DEEC38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13B6070-B304-1C40-E954-0BEE94C10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626" y="424605"/>
            <a:ext cx="9312374" cy="972716"/>
          </a:xfrm>
        </p:spPr>
        <p:txBody>
          <a:bodyPr/>
          <a:lstStyle/>
          <a:p>
            <a:r>
              <a:rPr lang="en-ES" dirty="0"/>
              <a:t>The model: Parameters &amp; Equation</a:t>
            </a:r>
            <a:br>
              <a:rPr lang="en-ES" dirty="0"/>
            </a:br>
            <a:r>
              <a:rPr lang="en-E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B51C5-EE30-BAE5-7D7B-E2C259FE77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13154-6D14-7643-B3D1-F784474E7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2FEF8E-20AB-52D6-4B0D-E64BE950F4E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2513C0-DE10-2D39-286C-8D527245D08B}"/>
                  </a:ext>
                </a:extLst>
              </p:cNvPr>
              <p:cNvSpPr txBox="1"/>
              <p:nvPr/>
            </p:nvSpPr>
            <p:spPr>
              <a:xfrm>
                <a:off x="1944169" y="2331528"/>
                <a:ext cx="3447093" cy="584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𝑟𝑁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(1−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𝑏𝑃𝑁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2513C0-DE10-2D39-286C-8D527245D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169" y="2331528"/>
                <a:ext cx="3447093" cy="584327"/>
              </a:xfrm>
              <a:prstGeom prst="rect">
                <a:avLst/>
              </a:prstGeom>
              <a:blipFill>
                <a:blip r:embed="rId3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DF3040-5099-9E06-CD62-8EA5DD98F516}"/>
                  </a:ext>
                </a:extLst>
              </p:cNvPr>
              <p:cNvSpPr txBox="1"/>
              <p:nvPr/>
            </p:nvSpPr>
            <p:spPr>
              <a:xfrm>
                <a:off x="7018113" y="2331528"/>
                <a:ext cx="3228131" cy="584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𝑏𝑁𝑃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DF3040-5099-9E06-CD62-8EA5DD98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113" y="2331528"/>
                <a:ext cx="3228131" cy="584327"/>
              </a:xfrm>
              <a:prstGeom prst="rect">
                <a:avLst/>
              </a:prstGeom>
              <a:blipFill>
                <a:blip r:embed="rId4"/>
                <a:stretch>
                  <a:fillRect t="-2128" b="-14894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45026C-78EF-AC90-7739-06AA8F443A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2401191"/>
                  </p:ext>
                </p:extLst>
              </p:nvPr>
            </p:nvGraphicFramePr>
            <p:xfrm>
              <a:off x="2103178" y="4050627"/>
              <a:ext cx="8657269" cy="1944077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18117">
                      <a:extLst>
                        <a:ext uri="{9D8B030D-6E8A-4147-A177-3AD203B41FA5}">
                          <a16:colId xmlns:a16="http://schemas.microsoft.com/office/drawing/2014/main" val="1914622166"/>
                        </a:ext>
                      </a:extLst>
                    </a:gridCol>
                    <a:gridCol w="1245425">
                      <a:extLst>
                        <a:ext uri="{9D8B030D-6E8A-4147-A177-3AD203B41FA5}">
                          <a16:colId xmlns:a16="http://schemas.microsoft.com/office/drawing/2014/main" val="2633945596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3294467146"/>
                        </a:ext>
                      </a:extLst>
                    </a:gridCol>
                    <a:gridCol w="2867847">
                      <a:extLst>
                        <a:ext uri="{9D8B030D-6E8A-4147-A177-3AD203B41FA5}">
                          <a16:colId xmlns:a16="http://schemas.microsoft.com/office/drawing/2014/main" val="4032526305"/>
                        </a:ext>
                      </a:extLst>
                    </a:gridCol>
                  </a:tblGrid>
                  <a:tr h="32713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226777"/>
                      </a:ext>
                    </a:extLst>
                  </a:tr>
                  <a:tr h="5724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Carrying capacity </a:t>
                          </a:r>
                          <a14:m>
                            <m:oMath xmlns:m="http://schemas.openxmlformats.org/officeDocument/2006/math">
                              <m: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ES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ES" dirty="0"/>
                        </a:p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1,223,118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seals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Assuming carrying</a:t>
                          </a:r>
                          <a:r>
                            <a:rPr lang="en-ES" baseline="0" dirty="0"/>
                            <a:t> capcity at 60%.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E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E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ES" i="0">
                                  <a:latin typeface="Cambria Math" panose="02040503050406030204" pitchFamily="18" charset="0"/>
                                </a:rPr>
                                <m:t>/0.6</m:t>
                              </m:r>
                            </m:oMath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2445"/>
                      </a:ext>
                    </a:extLst>
                  </a:tr>
                  <a:tr h="32713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Human removal of seals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8000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s</a:t>
                          </a:r>
                          <a:r>
                            <a:rPr lang="en-ES" dirty="0"/>
                            <a:t>eals/year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E</a:t>
                          </a:r>
                          <a:r>
                            <a:rPr lang="en-ES" dirty="0"/>
                            <a:t>stimated from 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5076842"/>
                      </a:ext>
                    </a:extLst>
                  </a:tr>
                  <a:tr h="57247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ES" dirty="0"/>
                            <a:t>Human removal of bears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oMath>
                          </a14:m>
                          <a:r>
                            <a:rPr lang="en-ES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b</a:t>
                          </a:r>
                          <a:r>
                            <a:rPr lang="en-ES" dirty="0"/>
                            <a:t>ears/year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E</a:t>
                          </a:r>
                          <a:r>
                            <a:rPr lang="en-ES" dirty="0"/>
                            <a:t>stimated from 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5213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245026C-78EF-AC90-7739-06AA8F443A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2401191"/>
                  </p:ext>
                </p:extLst>
              </p:nvPr>
            </p:nvGraphicFramePr>
            <p:xfrm>
              <a:off x="2103178" y="4050627"/>
              <a:ext cx="8657269" cy="1944077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18117">
                      <a:extLst>
                        <a:ext uri="{9D8B030D-6E8A-4147-A177-3AD203B41FA5}">
                          <a16:colId xmlns:a16="http://schemas.microsoft.com/office/drawing/2014/main" val="1914622166"/>
                        </a:ext>
                      </a:extLst>
                    </a:gridCol>
                    <a:gridCol w="1245425">
                      <a:extLst>
                        <a:ext uri="{9D8B030D-6E8A-4147-A177-3AD203B41FA5}">
                          <a16:colId xmlns:a16="http://schemas.microsoft.com/office/drawing/2014/main" val="2633945596"/>
                        </a:ext>
                      </a:extLst>
                    </a:gridCol>
                    <a:gridCol w="1325880">
                      <a:extLst>
                        <a:ext uri="{9D8B030D-6E8A-4147-A177-3AD203B41FA5}">
                          <a16:colId xmlns:a16="http://schemas.microsoft.com/office/drawing/2014/main" val="3294467146"/>
                        </a:ext>
                      </a:extLst>
                    </a:gridCol>
                    <a:gridCol w="2867847">
                      <a:extLst>
                        <a:ext uri="{9D8B030D-6E8A-4147-A177-3AD203B41FA5}">
                          <a16:colId xmlns:a16="http://schemas.microsoft.com/office/drawing/2014/main" val="40325263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22677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60784" r="-169291" b="-14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1,223,118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seals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2212" t="-60784" r="-442" b="-147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724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282759" r="-169291" b="-1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8000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s</a:t>
                          </a:r>
                          <a:r>
                            <a:rPr lang="en-ES" dirty="0"/>
                            <a:t>eals/year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E</a:t>
                          </a:r>
                          <a:r>
                            <a:rPr lang="en-ES" dirty="0"/>
                            <a:t>stimated from 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5076842"/>
                      </a:ext>
                    </a:extLst>
                  </a:tr>
                  <a:tr h="572477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241304" r="-1692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b</a:t>
                          </a:r>
                          <a:r>
                            <a:rPr lang="en-ES" dirty="0"/>
                            <a:t>ears/year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E</a:t>
                          </a:r>
                          <a:r>
                            <a:rPr lang="en-ES" dirty="0"/>
                            <a:t>stimated from literature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5213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34132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C83BA0-81B4-A5C4-472D-89348FE6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21877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ES" dirty="0"/>
              <a:t>Results – </a:t>
            </a:r>
            <a:r>
              <a:rPr lang="en-ES" sz="3200" dirty="0"/>
              <a:t>Logistic growth and unsustainable removal</a:t>
            </a:r>
            <a:endParaRPr lang="en-E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98F3F-0CF5-14A5-3E56-5E9421C0EE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3004B-BDF8-17E6-0D36-CD0D4BB1EE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4A55A8-C9CB-7E98-9BE1-1DBDABE8746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5840CC-37EF-0E5D-DDD4-EFF3C5E1A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980" y="1603947"/>
            <a:ext cx="5106770" cy="3945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C90A1D-3570-EE4C-180F-7CA4AD2A7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200" y="2815948"/>
            <a:ext cx="4397465" cy="32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23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D9D1-8235-26D6-0DF1-6D3C20AC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9823F33-268F-5B4C-DF5F-C35F1907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21877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Results – Migration &amp; added mortality (hunger)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8C2F4-6460-B9AA-4430-38C1150F74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B46CC-C9BF-4062-0851-D50B6651C8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4BCFBA-F3B7-A729-584F-DE1448D22AA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E6204-C39A-1838-1334-E47623295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420" y="1645812"/>
            <a:ext cx="5340076" cy="40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06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ACBF-6116-CF36-C711-AAFD3F91A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ES" sz="5400" dirty="0"/>
              <a:t>Logistic growth and controlled removal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52541-E153-99D4-2B7F-7D6733396A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ES" sz="2400" dirty="0"/>
              <a:t>Extended scenario 2.</a:t>
            </a:r>
          </a:p>
          <a:p>
            <a:r>
              <a:rPr lang="en-ES" sz="2400" dirty="0"/>
              <a:t> </a:t>
            </a:r>
          </a:p>
          <a:p>
            <a:r>
              <a:rPr lang="en-ES" sz="2400" dirty="0"/>
              <a:t>The first extension produced a strong decline in the predator population. I therefore introduced a management threshold to explore a regulated scenario.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42BDA-5A57-B318-EC8E-1D9B605429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FFD1B-4FD3-4B0D-8D4D-34FE04CC73D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B33D04-C7CE-2BE0-9242-E82021FA7C9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949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6FCD-4A32-D84D-3676-4DE8733F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4766C-A6DF-2715-E050-F3960AD3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200" y="583048"/>
            <a:ext cx="7421195" cy="972716"/>
          </a:xfrm>
        </p:spPr>
        <p:txBody>
          <a:bodyPr/>
          <a:lstStyle/>
          <a:p>
            <a:r>
              <a:rPr lang="es-ES" sz="3200" dirty="0"/>
              <a:t>The </a:t>
            </a:r>
            <a:r>
              <a:rPr lang="es-ES" sz="3200" dirty="0" err="1"/>
              <a:t>model</a:t>
            </a:r>
            <a:r>
              <a:rPr lang="es-ES" sz="3200" dirty="0"/>
              <a:t>: sketch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65765E-2830-AF61-3078-C8A897B7BE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C248EF-C168-6792-78DE-19EBDAD20E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89ACAA42-7208-B98A-0B8A-5A21C996CC0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E14F0FCD-0D25-59EF-21F6-F898D3F253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212997" y="2220567"/>
                <a:ext cx="4377804" cy="2416866"/>
              </a:xfrm>
            </p:spPr>
            <p:txBody>
              <a:bodyPr/>
              <a:lstStyle/>
              <a:p>
                <a:endParaRPr lang="en-ES" b="1" dirty="0"/>
              </a:p>
              <a:p>
                <a:r>
                  <a:rPr lang="en-ES" b="1" dirty="0"/>
                  <a:t>Logistic growth: </a:t>
                </a:r>
                <a:r>
                  <a:rPr lang="en-ES" dirty="0"/>
                  <a:t>as in the previous extended scenario</a:t>
                </a:r>
              </a:p>
              <a:p>
                <a:pPr lvl="0" algn="just"/>
                <a:r>
                  <a:rPr lang="en-ES" b="1" dirty="0"/>
                  <a:t>Human removal:</a:t>
                </a:r>
                <a:r>
                  <a:rPr lang="en-ES" dirty="0"/>
                  <a:t> Local communities remove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ES" dirty="0"/>
                  <a:t> polar bears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𝑟𝑟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ES" dirty="0"/>
                  <a:t> seals per year. The predator removal has a sustainble threshold of 500 individuals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E14F0FCD-0D25-59EF-21F6-F898D3F253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212997" y="2220567"/>
                <a:ext cx="4377804" cy="2416866"/>
              </a:xfrm>
              <a:blipFill>
                <a:blip r:embed="rId3"/>
                <a:stretch>
                  <a:fillRect l="-2890" r="-3179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A83EE45-2747-A4B9-8CCF-8DCA3C1A7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643" y="1333345"/>
            <a:ext cx="5813503" cy="419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46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6CDF-C462-E445-169B-E412B3D7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1661C5-6C5B-C9CE-64A1-24184AAF8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626" y="424605"/>
            <a:ext cx="9312374" cy="972716"/>
          </a:xfrm>
        </p:spPr>
        <p:txBody>
          <a:bodyPr/>
          <a:lstStyle/>
          <a:p>
            <a:r>
              <a:rPr lang="en-ES" dirty="0"/>
              <a:t>The model: equations &amp; parameters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D1DB2-57B6-8115-C54B-8F053E10D4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E31BE-35EB-0A90-7F0C-F4E527398C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602985-1CAD-945E-AE02-5532288648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D5E7E1-AA1F-DF67-71D1-5085D82C8091}"/>
                  </a:ext>
                </a:extLst>
              </p:cNvPr>
              <p:cNvSpPr txBox="1"/>
              <p:nvPr/>
            </p:nvSpPr>
            <p:spPr>
              <a:xfrm>
                <a:off x="1357200" y="2382561"/>
                <a:ext cx="3865519" cy="5908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𝑟𝑁</m:t>
                      </m:r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𝑏𝑃𝑁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e>
                        <m:sub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7D5E7E1-AA1F-DF67-71D1-5085D82C8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00" y="2382561"/>
                <a:ext cx="3865519" cy="590803"/>
              </a:xfrm>
              <a:prstGeom prst="rect">
                <a:avLst/>
              </a:prstGeom>
              <a:blipFill>
                <a:blip r:embed="rId3"/>
                <a:stretch>
                  <a:fillRect t="-2083" b="-12500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8768B5-86F6-C123-1A22-AA608DBE33A6}"/>
                  </a:ext>
                </a:extLst>
              </p:cNvPr>
              <p:cNvSpPr txBox="1"/>
              <p:nvPr/>
            </p:nvSpPr>
            <p:spPr>
              <a:xfrm>
                <a:off x="6748040" y="1832224"/>
                <a:ext cx="3666747" cy="8921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2000" dirty="0" smtClean="0"/>
                      <m:t> </m:t>
                    </m:r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sz="2000" b="0" i="1" dirty="0" smtClean="0">
                            <a:latin typeface="Cambria Math" panose="02040503050406030204" pitchFamily="18" charset="0"/>
                          </a:rPr>
                          <m:t>𝑡ℎ𝑟𝑒𝑠ℎ𝑜𝑙𝑑</m:t>
                        </m:r>
                      </m:sub>
                    </m:sSub>
                  </m:oMath>
                </a14:m>
                <a:r>
                  <a:rPr lang="es-ES" sz="2000" b="0" i="1" dirty="0">
                    <a:latin typeface="Cambria Math" panose="02040503050406030204" pitchFamily="18" charset="0"/>
                  </a:rPr>
                  <a:t>:</a:t>
                </a:r>
              </a:p>
              <a:p>
                <a:pPr algn="ctr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𝑏𝑁𝑃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𝑟𝑟</m:t>
                          </m:r>
                        </m:e>
                        <m:sub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8768B5-86F6-C123-1A22-AA608DBE3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040" y="1832224"/>
                <a:ext cx="3666747" cy="892104"/>
              </a:xfrm>
              <a:prstGeom prst="rect">
                <a:avLst/>
              </a:prstGeom>
              <a:blipFill>
                <a:blip r:embed="rId4"/>
                <a:stretch>
                  <a:fillRect t="-9859" b="-8451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4E99237-99EA-B8D7-745A-E83580E3A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552493"/>
                  </p:ext>
                </p:extLst>
              </p:nvPr>
            </p:nvGraphicFramePr>
            <p:xfrm>
              <a:off x="2761138" y="4380802"/>
              <a:ext cx="6668136" cy="2160398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76600">
                      <a:extLst>
                        <a:ext uri="{9D8B030D-6E8A-4147-A177-3AD203B41FA5}">
                          <a16:colId xmlns:a16="http://schemas.microsoft.com/office/drawing/2014/main" val="1914622166"/>
                        </a:ext>
                      </a:extLst>
                    </a:gridCol>
                    <a:gridCol w="1108393">
                      <a:extLst>
                        <a:ext uri="{9D8B030D-6E8A-4147-A177-3AD203B41FA5}">
                          <a16:colId xmlns:a16="http://schemas.microsoft.com/office/drawing/2014/main" val="2633945596"/>
                        </a:ext>
                      </a:extLst>
                    </a:gridCol>
                    <a:gridCol w="842963">
                      <a:extLst>
                        <a:ext uri="{9D8B030D-6E8A-4147-A177-3AD203B41FA5}">
                          <a16:colId xmlns:a16="http://schemas.microsoft.com/office/drawing/2014/main" val="3294467146"/>
                        </a:ext>
                      </a:extLst>
                    </a:gridCol>
                    <a:gridCol w="1440180">
                      <a:extLst>
                        <a:ext uri="{9D8B030D-6E8A-4147-A177-3AD203B41FA5}">
                          <a16:colId xmlns:a16="http://schemas.microsoft.com/office/drawing/2014/main" val="40325263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226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ES" dirty="0" err="1"/>
                            <a:t>Predator</a:t>
                          </a:r>
                          <a:r>
                            <a:rPr lang="es-ES" dirty="0"/>
                            <a:t> </a:t>
                          </a:r>
                          <a:r>
                            <a:rPr lang="es-ES" dirty="0" err="1"/>
                            <a:t>threshold</a:t>
                          </a:r>
                          <a:r>
                            <a:rPr lang="es-ES" dirty="0"/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s-ES" sz="1800" b="0" i="1" dirty="0" smtClean="0">
                                      <a:latin typeface="Cambria Math" panose="02040503050406030204" pitchFamily="18" charset="0"/>
                                    </a:rPr>
                                    <m:t>𝑡ℎ𝑟𝑒𝑠ℎ𝑜𝑙𝑑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s-ES" dirty="0"/>
                            <a:t>)</a:t>
                          </a:r>
                          <a:endParaRPr lang="en-ES" dirty="0"/>
                        </a:p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bears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24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" sz="1800" b="0" dirty="0"/>
                            <a:t>Removal</a:t>
                          </a:r>
                          <a:r>
                            <a:rPr lang="es-ES" sz="1800" b="0" baseline="0" dirty="0"/>
                            <a:t> </a:t>
                          </a:r>
                          <a:r>
                            <a:rPr lang="es-ES" sz="1800" b="0" baseline="0" dirty="0" err="1"/>
                            <a:t>rate</a:t>
                          </a:r>
                          <a:r>
                            <a:rPr lang="es-ES" sz="1800" b="0" baseline="0" dirty="0"/>
                            <a:t> </a:t>
                          </a:r>
                          <a:r>
                            <a:rPr lang="es-ES" sz="1800" b="0" baseline="0" dirty="0" err="1"/>
                            <a:t>predator</a:t>
                          </a:r>
                          <a:r>
                            <a:rPr lang="es-ES" sz="1800" b="0" baseline="0" dirty="0"/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0" i="1" smtClean="0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lang="en-ES" dirty="0"/>
                            <a:t>0.044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Y</a:t>
                          </a:r>
                          <a:r>
                            <a:rPr lang="en-ES" dirty="0"/>
                            <a:t>ear</a:t>
                          </a:r>
                          <a:r>
                            <a:rPr lang="en-ES" baseline="30000" dirty="0"/>
                            <a:t>-1</a:t>
                          </a: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46156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" sz="1800" dirty="0"/>
                            <a:t>Removal</a:t>
                          </a:r>
                          <a:r>
                            <a:rPr lang="es-ES" sz="1800" baseline="0" dirty="0"/>
                            <a:t> </a:t>
                          </a:r>
                          <a:r>
                            <a:rPr lang="es-ES" sz="1800" baseline="0" dirty="0" err="1"/>
                            <a:t>rate</a:t>
                          </a:r>
                          <a:r>
                            <a:rPr lang="es-ES" sz="1800" baseline="0" dirty="0"/>
                            <a:t> </a:t>
                          </a:r>
                          <a:r>
                            <a:rPr lang="es-ES" sz="1800" baseline="0" dirty="0" err="1"/>
                            <a:t>prey</a:t>
                          </a:r>
                          <a:r>
                            <a:rPr lang="es-ES" sz="1800" baseline="0" dirty="0"/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i="1">
                                      <a:latin typeface="Cambria Math" panose="02040503050406030204" pitchFamily="18" charset="0"/>
                                    </a:rPr>
                                    <m:t>𝑟𝑟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s-E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s-ES" sz="18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E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lang="en-ES" dirty="0"/>
                            <a:t>0.0109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Y</a:t>
                          </a:r>
                          <a:r>
                            <a:rPr lang="en-ES" dirty="0"/>
                            <a:t>ear</a:t>
                          </a:r>
                          <a:r>
                            <a:rPr lang="en-ES" baseline="30000" dirty="0"/>
                            <a:t>-1</a:t>
                          </a: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s-ES" sz="18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ES" sz="1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9770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715099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4E99237-99EA-B8D7-745A-E83580E3A7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6552493"/>
                  </p:ext>
                </p:extLst>
              </p:nvPr>
            </p:nvGraphicFramePr>
            <p:xfrm>
              <a:off x="2761138" y="4380802"/>
              <a:ext cx="6668136" cy="2160398"/>
            </p:xfrm>
            <a:graphic>
              <a:graphicData uri="http://schemas.openxmlformats.org/drawingml/2006/table">
                <a:tbl>
                  <a:tblPr firstRow="1" bandRow="1">
                    <a:tableStyleId>{D27102A9-8310-4765-A935-A1911B00CA55}</a:tableStyleId>
                  </a:tblPr>
                  <a:tblGrid>
                    <a:gridCol w="3276600">
                      <a:extLst>
                        <a:ext uri="{9D8B030D-6E8A-4147-A177-3AD203B41FA5}">
                          <a16:colId xmlns:a16="http://schemas.microsoft.com/office/drawing/2014/main" val="1914622166"/>
                        </a:ext>
                      </a:extLst>
                    </a:gridCol>
                    <a:gridCol w="1108393">
                      <a:extLst>
                        <a:ext uri="{9D8B030D-6E8A-4147-A177-3AD203B41FA5}">
                          <a16:colId xmlns:a16="http://schemas.microsoft.com/office/drawing/2014/main" val="2633945596"/>
                        </a:ext>
                      </a:extLst>
                    </a:gridCol>
                    <a:gridCol w="842963">
                      <a:extLst>
                        <a:ext uri="{9D8B030D-6E8A-4147-A177-3AD203B41FA5}">
                          <a16:colId xmlns:a16="http://schemas.microsoft.com/office/drawing/2014/main" val="3294467146"/>
                        </a:ext>
                      </a:extLst>
                    </a:gridCol>
                    <a:gridCol w="1440180">
                      <a:extLst>
                        <a:ext uri="{9D8B030D-6E8A-4147-A177-3AD203B41FA5}">
                          <a16:colId xmlns:a16="http://schemas.microsoft.com/office/drawing/2014/main" val="40325263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Parameter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Unit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Origin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622677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88" t="-62000" r="-104264" b="-1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500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bears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ES" dirty="0"/>
                            <a:t>Assumption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372445"/>
                      </a:ext>
                    </a:extLst>
                  </a:tr>
                  <a:tr h="389319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88" t="-261290" r="-104264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4318" t="-261290" r="-205682" b="-1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dirty="0"/>
                            <a:t>Y</a:t>
                          </a:r>
                          <a:r>
                            <a:rPr lang="en-ES" dirty="0"/>
                            <a:t>ear</a:t>
                          </a:r>
                          <a:r>
                            <a:rPr lang="en-ES" baseline="30000" dirty="0"/>
                            <a:t>-1</a:t>
                          </a: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62281" t="-261290" r="-877" b="-1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6156193"/>
                      </a:ext>
                    </a:extLst>
                  </a:tr>
                  <a:tr h="389319"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88" t="-361290" r="-104264" b="-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94318" t="-361290" r="-205682" b="-96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Y</a:t>
                          </a:r>
                          <a:r>
                            <a:rPr lang="en-ES" dirty="0"/>
                            <a:t>ear</a:t>
                          </a:r>
                          <a:r>
                            <a:rPr lang="en-ES" baseline="30000" dirty="0"/>
                            <a:t>-1</a:t>
                          </a: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E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62281" t="-361290" r="-877" b="-96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9770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E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71509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DC07FE-06AC-44DE-15FE-202DCA2636E7}"/>
                  </a:ext>
                </a:extLst>
              </p:cNvPr>
              <p:cNvSpPr txBox="1"/>
              <p:nvPr/>
            </p:nvSpPr>
            <p:spPr>
              <a:xfrm>
                <a:off x="7107533" y="2982948"/>
                <a:ext cx="2947760" cy="8921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432"/>
                  </a:spcBef>
                </a:pPr>
                <a:r>
                  <a:rPr lang="es-ES" sz="2000" b="0" i="1" dirty="0" err="1">
                    <a:latin typeface="Cambria Math" panose="02040503050406030204" pitchFamily="18" charset="0"/>
                  </a:rPr>
                  <a:t>else</a:t>
                </a:r>
                <a:r>
                  <a:rPr lang="es-ES" sz="2000" b="0" i="1" dirty="0">
                    <a:latin typeface="Cambria Math" panose="02040503050406030204" pitchFamily="18" charset="0"/>
                  </a:rPr>
                  <a:t>:</a:t>
                </a:r>
              </a:p>
              <a:p>
                <a:pPr algn="ctr">
                  <a:spcBef>
                    <a:spcPts val="432"/>
                  </a:spcBef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𝑏𝑁𝑃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ES" sz="2000" dirty="0" err="1">
                  <a:latin typeface="+mn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DC07FE-06AC-44DE-15FE-202DCA263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533" y="2982948"/>
                <a:ext cx="2947760" cy="892104"/>
              </a:xfrm>
              <a:prstGeom prst="rect">
                <a:avLst/>
              </a:prstGeom>
              <a:blipFill>
                <a:blip r:embed="rId6"/>
                <a:stretch>
                  <a:fillRect t="-8333" b="-8333"/>
                </a:stretch>
              </a:blipFill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489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D294F-8379-3428-1FF8-539350CC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1D8ACA-80F3-B11E-B111-C10423F6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21877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Results – Logistic growth and controlled removal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B6F32-2E46-B663-E43B-58FA45F180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FCB86-1771-69C9-E012-4B5822D4A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500656D-7827-4EC2-47E9-D117BAF2C01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40310-27E4-636C-061C-4B2739DD5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808" y="1785474"/>
            <a:ext cx="4571292" cy="3553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2D23F6-AC62-016C-856E-8FFF8E4CF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07" y="2550245"/>
            <a:ext cx="4571293" cy="338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78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E2D7-8C91-D624-4398-AB8022D5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B01D62-8D02-843C-8909-80A97835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221877"/>
            <a:ext cx="9312374" cy="972716"/>
          </a:xfr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ES" dirty="0"/>
              <a:t>Results – Logistic growth and controlled removal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265BC-6AC8-2C5B-812B-D637A35AC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5156C-EF71-2B97-837B-19F0C97FC9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vert="horz" lIns="0" tIns="0" rIns="0" bIns="0" rtlCol="0" anchor="ctr" anchorCtr="0">
            <a:normAutofit/>
          </a:bodyPr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D9898D-B6E9-BA94-F3D1-03ECF432910F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48F96-46B1-8E17-F3DA-79D95E329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695" y="1888760"/>
            <a:ext cx="4990405" cy="38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20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567F0B-DA33-5C3D-09EC-F79D4062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668B2-3DFA-FF06-52DD-4E1A2D8A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565F0-BC78-6CB0-1F52-53F89228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394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DFA4-9B72-8882-037D-41C2FCF3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en-ES" dirty="0"/>
              <a:t>Evolution of the extended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E273E-C61A-FD5E-B30D-F1BAEEDEB5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FFF76-D52B-2F4A-1A61-90C900E235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874FDBA-D4FE-F158-B1E2-6126189C63E3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2000" y="6541200"/>
            <a:ext cx="1105200" cy="316800"/>
          </a:xfrm>
        </p:spPr>
        <p:txBody>
          <a:bodyPr anchor="ctr">
            <a:normAutofit/>
          </a:bodyPr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3B0B-9E92-3AC7-9931-8C026B7A2F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C513E1-F0C0-6AF7-A957-E5B9F6AC38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54377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0E94-1CD5-CF38-F37A-E20F17B9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AI declaration &amp;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FD518-A3E6-0654-68AC-073951E2F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S" dirty="0"/>
              <a:t>AI tools were used to assist with debugging the code and improving plots visual aspect. </a:t>
            </a:r>
            <a:r>
              <a:rPr lang="en-ES"/>
              <a:t>The model sketchs were also done with the help of AI tools</a:t>
            </a:r>
            <a:endParaRPr lang="en-ES" dirty="0"/>
          </a:p>
          <a:p>
            <a:endParaRPr lang="en-ES" dirty="0"/>
          </a:p>
          <a:p>
            <a:endParaRPr lang="en-ES" dirty="0"/>
          </a:p>
          <a:p>
            <a:endParaRPr lang="en-ES" dirty="0"/>
          </a:p>
          <a:p>
            <a:r>
              <a:rPr lang="en-ES" dirty="0"/>
              <a:t>The code is pasted in the notes of this slide. If it is not clear, the link below is connected to  a github repository where I will paste the source codes.</a:t>
            </a:r>
          </a:p>
          <a:p>
            <a:pPr lvl="1"/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PolBassols</a:t>
            </a:r>
            <a:r>
              <a:rPr lang="en-GB" dirty="0"/>
              <a:t>/</a:t>
            </a:r>
            <a:r>
              <a:rPr lang="en-GB" dirty="0" err="1"/>
              <a:t>mathematicalbiology</a:t>
            </a:r>
            <a:r>
              <a:rPr lang="en-GB" dirty="0"/>
              <a:t>/blob/main/</a:t>
            </a:r>
            <a:r>
              <a:rPr lang="en-GB" dirty="0" err="1"/>
              <a:t>pinna_nobilis.py</a:t>
            </a:r>
            <a:endParaRPr lang="en-E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24926-FA3E-A20F-3C6D-D92966D90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EA841-AFD6-CDD1-0678-539643BBBC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CADE2A-5038-A170-022D-EAF694752FF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52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5DC8040-5A52-4C77-339D-A2A64724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1433E-4BAF-A19D-1B56-6440F7F53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602" y="1578725"/>
            <a:ext cx="10292621" cy="4545578"/>
          </a:xfrm>
        </p:spPr>
        <p:txBody>
          <a:bodyPr/>
          <a:lstStyle/>
          <a:p>
            <a:pPr lvl="0"/>
            <a:r>
              <a:rPr lang="en-ES" sz="1400" dirty="0"/>
              <a:t>Gamblin, H. E., Derocher, A. E., Richardson, E. S., McGeachy, D., Roth, J. D., &amp; Pilfold, N. W. (2026). Predators and scavengers: Polar bears as marine carrion providers. </a:t>
            </a:r>
            <a:r>
              <a:rPr lang="en-ES" sz="1400" i="1" dirty="0"/>
              <a:t>Oikos</a:t>
            </a:r>
            <a:r>
              <a:rPr lang="en-ES" sz="1400" dirty="0"/>
              <a:t>, </a:t>
            </a:r>
            <a:r>
              <a:rPr lang="en-ES" sz="1400" i="1" dirty="0"/>
              <a:t>2026</a:t>
            </a:r>
            <a:r>
              <a:rPr lang="en-ES" sz="1400" dirty="0"/>
              <a:t>(1), e11628.</a:t>
            </a:r>
          </a:p>
          <a:p>
            <a:pPr lvl="0"/>
            <a:r>
              <a:rPr lang="en-ES" sz="1400" dirty="0"/>
              <a:t>Crockford, S. J. (2022, June 16). </a:t>
            </a:r>
            <a:r>
              <a:rPr lang="en-ES" sz="1400" i="1" dirty="0"/>
              <a:t>Newly-discovered SE Greenland polar bear subpopulation: Another assumption proven false</a:t>
            </a:r>
            <a:r>
              <a:rPr lang="en-ES" sz="1400" dirty="0"/>
              <a:t>. Polar Bear Science. https://polarbearscience.com/2022/06/16/newly-discovered-se-greenland-polar-bear-subpopulation-another-assumption-proven-false/</a:t>
            </a:r>
          </a:p>
          <a:p>
            <a:r>
              <a:rPr lang="en-ES" sz="1400" dirty="0"/>
              <a:t>Natural Habitat Adventures. (n.d.). </a:t>
            </a:r>
            <a:r>
              <a:rPr lang="en-ES" sz="1400" i="1" dirty="0"/>
              <a:t>Ringed seal facts | Greenland wildlife guide.</a:t>
            </a:r>
            <a:r>
              <a:rPr lang="en-ES" sz="1400" dirty="0"/>
              <a:t> Natural Habitat Adventures.</a:t>
            </a:r>
            <a:br>
              <a:rPr lang="en-ES" sz="1400" dirty="0"/>
            </a:br>
            <a:r>
              <a:rPr lang="en-ES" sz="1400" dirty="0">
                <a:hlinkClick r:id="rId3"/>
              </a:rPr>
              <a:t>https://www.nathab.com/know-before-you-go/alaska-northern-adventures/greenland/wildlife-guide/ringed-seal-facts</a:t>
            </a:r>
            <a:endParaRPr lang="en-ES" sz="1400" dirty="0"/>
          </a:p>
          <a:p>
            <a:r>
              <a:rPr lang="en-ES" sz="1400" dirty="0"/>
              <a:t>Stedmon, C., Boje, J., Christensen, H. T., Nogueira, A., Winding, M. S., Jónsson, S., Friis Møller, E., Sejr, M., Mosbech, A., Post, S., Munk, P., Emblemsvåg, M., Schou Christiansen, J., Frie, A. K., Asvid-Rosing, A., Pedersen, T. J., &amp; Blicher, M. (2020). </a:t>
            </a:r>
            <a:r>
              <a:rPr lang="en-ES" sz="1400" i="1" dirty="0"/>
              <a:t>Working Group on Integrated Ecosystem Assessment of the Greenland Sea (WGIEAGS).</a:t>
            </a:r>
            <a:r>
              <a:rPr lang="en-ES" sz="1400" dirty="0"/>
              <a:t> International Council for the Exploration of the Sea. </a:t>
            </a:r>
            <a:r>
              <a:rPr lang="en-ES" sz="1400" i="1" dirty="0"/>
              <a:t>ICES Scientific Report, 2</a:t>
            </a:r>
            <a:r>
              <a:rPr lang="en-ES" sz="1400" dirty="0"/>
              <a:t>(75). https://doi.org/10.17895/ices.pub.7450 </a:t>
            </a:r>
          </a:p>
          <a:p>
            <a:r>
              <a:rPr lang="en-ES" sz="1400" dirty="0"/>
              <a:t>Laidre, K. L., Marques, T. A., Cohen, B., Hansen, R. G., Regehr, E. V., Zahn, M. J., Aars, J., Ware, J., Stern, H. L., &amp; Ugarte, F. (2026). First abundance estimate for the East Greenland polar bear subpopulation. </a:t>
            </a:r>
            <a:r>
              <a:rPr lang="en-ES" sz="1400" i="1" dirty="0"/>
              <a:t>Endangered Species Research, 59</a:t>
            </a:r>
            <a:r>
              <a:rPr lang="en-ES" sz="1400" dirty="0"/>
              <a:t>, Article esr01479. https://doi.org/10.3354/esr01479 </a:t>
            </a:r>
          </a:p>
          <a:p>
            <a:r>
              <a:rPr lang="en-ES" sz="1400" dirty="0"/>
              <a:t>Polar Bears International. (n.d.). </a:t>
            </a:r>
            <a:r>
              <a:rPr lang="en-ES" sz="1400" i="1" dirty="0"/>
              <a:t>Life cycle.</a:t>
            </a:r>
            <a:r>
              <a:rPr lang="en-ES" sz="1400" dirty="0"/>
              <a:t> Polar Bears International.</a:t>
            </a:r>
            <a:br>
              <a:rPr lang="en-ES" sz="1400" dirty="0"/>
            </a:br>
            <a:r>
              <a:rPr lang="en-ES" sz="1400" dirty="0">
                <a:hlinkClick r:id="rId4"/>
              </a:rPr>
              <a:t>https://polarbearsinternational.org/polar-bears/polar-bear-facts/life-cycle/</a:t>
            </a:r>
            <a:endParaRPr lang="en-ES" sz="1400" dirty="0"/>
          </a:p>
          <a:p>
            <a:r>
              <a:rPr lang="en-ES" sz="1400" dirty="0"/>
              <a:t>North Atlantic Marine Mammal Commission (NAMMCO). (n.d.). </a:t>
            </a:r>
            <a:r>
              <a:rPr lang="en-ES" sz="1400" i="1" dirty="0"/>
              <a:t>Ringed seal.</a:t>
            </a:r>
            <a:r>
              <a:rPr lang="en-ES" sz="1400" dirty="0"/>
              <a:t> NAMMCO.</a:t>
            </a:r>
            <a:br>
              <a:rPr lang="en-ES" sz="1400" dirty="0"/>
            </a:br>
            <a:r>
              <a:rPr lang="en-ES" sz="1400" dirty="0">
                <a:hlinkClick r:id="rId5"/>
              </a:rPr>
              <a:t>https://nammco.no/ringed-seal/</a:t>
            </a:r>
            <a:endParaRPr lang="en-ES" sz="1400" dirty="0"/>
          </a:p>
          <a:p>
            <a:pPr lvl="0"/>
            <a:endParaRPr lang="en-ES" sz="12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2618F-9A05-F7DD-26C9-A33A87D728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tr-TR" b="1" dirty="0" err="1">
                <a:ea typeface="ＭＳ Ｐゴシック"/>
                <a:cs typeface="Arial"/>
              </a:rPr>
              <a:t>Predator-Prey</a:t>
            </a:r>
            <a:r>
              <a:rPr lang="tr-TR" b="1" dirty="0">
                <a:ea typeface="ＭＳ Ｐゴシック"/>
                <a:cs typeface="Arial"/>
              </a:rPr>
              <a:t> model</a:t>
            </a:r>
            <a:endParaRPr lang="es-ES" dirty="0"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CCF37-A83D-315B-802C-035C723E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E9B2DD-5EDD-F464-7E0C-B70B8AD25B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tr-TR" dirty="0">
                <a:ea typeface="ＭＳ Ｐゴシック"/>
                <a:cs typeface="Arial"/>
              </a:rPr>
              <a:t>Fall 2026 </a:t>
            </a:r>
            <a:r>
              <a:rPr lang="en-US" dirty="0">
                <a:ea typeface="ＭＳ Ｐゴシック"/>
                <a:cs typeface="Arial"/>
              </a:rPr>
              <a:t> 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8346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4"/>
        </a:solidFill>
        <a:ln w="9525" cap="flat" cmpd="sng" algn="ctr">
          <a:solidFill>
            <a:schemeClr val="accent4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Navy blue-ENG.potx" id="{668BD327-20A8-48ED-87F5-2F6C6AB02F26}" vid="{327BD4A3-DAE5-445E-A4D0-C61A37F78C3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elementsMetadata":[],"documentContentValidatorConfiguration":{"enableDocumentContentValidator":false,"documentContentValidatorVersion":0},"slideId":"636957681585013765","enableDocumentContentUpdater":true,"version":"1.2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TemplateConfiguration><![CDATA[{"elementsMetadata":[],"transformationConfigurations":[{"language":"{{DocumentLanguage}}","disableUpdates":false,"type":"proofingLanguage"}],"templateName":"DTU Template 16_9 - Navy blue","templateDescription":"","enableDocumentContentUpdater":true,"version":"1.2"}]]></TemplafyTemplateConfiguration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9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17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18.xml><?xml version="1.0" encoding="utf-8"?>
<TemplafySlideTemplateConfiguration><![CDATA[{"elementsMetadata":[],"documentContentValidatorConfiguration":{"enableDocumentContentValidator":false,"documentContentValidatorVersion":0},"slideId":"636957681585013765","enableDocumentContentUpdater":true,"version":"1.2"}]]></TemplafySlideTemplateConfiguration>
</file>

<file path=customXml/item19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2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3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4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4EE722AF17BA40AB2CD9D549161871" ma:contentTypeVersion="3" ma:contentTypeDescription="Opret et nyt dokument." ma:contentTypeScope="" ma:versionID="51c2e7aa24e4eec9bb8d72ac2d99e2e9">
  <xsd:schema xmlns:xsd="http://www.w3.org/2001/XMLSchema" xmlns:xs="http://www.w3.org/2001/XMLSchema" xmlns:p="http://schemas.microsoft.com/office/2006/metadata/properties" xmlns:ns2="55bc9303-f614-4265-b425-29dfa21b22d1" targetNamespace="http://schemas.microsoft.com/office/2006/metadata/properties" ma:root="true" ma:fieldsID="9fcb463d37ba11a9ef5f8740c6da3532" ns2:_="">
    <xsd:import namespace="55bc9303-f614-4265-b425-29dfa21b22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c9303-f614-4265-b425-29dfa21b22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8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29.xml><?xml version="1.0" encoding="utf-8"?>
<TemplafySlideTemplateConfiguration><![CDATA[{"elementsMetadata":[],"documentContentValidatorConfiguration":{"enableDocumentContentValidator":false,"documentContentValidatorVersion":0},"slideId":"636957681585124447","enableDocumentContentUpdater":true,"version":"1.2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elementsMetadata":[],"documentContentValidatorConfiguration":{"enableDocumentContentValidator":false,"documentContentValidatorVersion":0},"slideId":"636957681584817741","enableDocumentContentUpdater":true,"version":"1.2"}]]></TemplafySlideTemplateConfiguration>
</file>

<file path=customXml/item3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A5211637-BEE7-4AAE-A4E7-A8EE3F203F81}">
  <ds:schemaRefs/>
</ds:datastoreItem>
</file>

<file path=customXml/itemProps2.xml><?xml version="1.0" encoding="utf-8"?>
<ds:datastoreItem xmlns:ds="http://schemas.openxmlformats.org/officeDocument/2006/customXml" ds:itemID="{337B220D-2AC5-4EBB-8A45-3B57ACE6BF24}">
  <ds:schemaRefs/>
</ds:datastoreItem>
</file>

<file path=customXml/itemProps3.xml><?xml version="1.0" encoding="utf-8"?>
<ds:datastoreItem xmlns:ds="http://schemas.openxmlformats.org/officeDocument/2006/customXml" ds:itemID="{BAE776A4-0417-4AF3-BC28-3DED1453437A}">
  <ds:schemaRefs/>
</ds:datastoreItem>
</file>

<file path=customXml/itemProps4.xml><?xml version="1.0" encoding="utf-8"?>
<ds:datastoreItem xmlns:ds="http://schemas.openxmlformats.org/officeDocument/2006/customXml" ds:itemID="{242829A9-22BF-41F4-BB1C-BF87AFD34C0B}">
  <ds:schemaRefs/>
</ds:datastoreItem>
</file>

<file path=customXml/itemProps5.xml><?xml version="1.0" encoding="utf-8"?>
<ds:datastoreItem xmlns:ds="http://schemas.openxmlformats.org/officeDocument/2006/customXml" ds:itemID="{4D5E1A10-B5E6-482A-9521-846112537EBC}">
  <ds:schemaRefs/>
</ds:datastoreItem>
</file>

<file path=customXml/itemProps6.xml><?xml version="1.0" encoding="utf-8"?>
<ds:datastoreItem xmlns:ds="http://schemas.openxmlformats.org/officeDocument/2006/customXml" ds:itemID="{C40B3375-250D-4583-9C50-ED371562BA35}">
  <ds:schemaRefs/>
</ds:datastoreItem>
</file>

<file path=customXml/itemProps7.xml><?xml version="1.0" encoding="utf-8"?>
<ds:datastoreItem xmlns:ds="http://schemas.openxmlformats.org/officeDocument/2006/customXml" ds:itemID="{1334258C-C3E7-4029-A615-C886A240FB15}">
  <ds:schemaRefs/>
</ds:datastoreItem>
</file>

<file path=customXml/itemProps8.xml><?xml version="1.0" encoding="utf-8"?>
<ds:datastoreItem xmlns:ds="http://schemas.openxmlformats.org/officeDocument/2006/customXml" ds:itemID="{5D2BE87C-0137-4AD2-A369-B03BC6573652}">
  <ds:schemaRefs/>
</ds:datastoreItem>
</file>

<file path=customXml/itemProps9.xml><?xml version="1.0" encoding="utf-8"?>
<ds:datastoreItem xmlns:ds="http://schemas.openxmlformats.org/officeDocument/2006/customXml" ds:itemID="{5B29B696-7354-412C-9B8E-ED20D22F6B23}">
  <ds:schemaRefs/>
</ds:datastoreItem>
</file>

<file path=customXml/itemProps10.xml><?xml version="1.0" encoding="utf-8"?>
<ds:datastoreItem xmlns:ds="http://schemas.openxmlformats.org/officeDocument/2006/customXml" ds:itemID="{80D183FE-4051-42E9-ACE0-78E8BFC8F421}">
  <ds:schemaRefs/>
</ds:datastoreItem>
</file>

<file path=customXml/itemProps11.xml><?xml version="1.0" encoding="utf-8"?>
<ds:datastoreItem xmlns:ds="http://schemas.openxmlformats.org/officeDocument/2006/customXml" ds:itemID="{C6406FEB-B081-4DE3-B790-BA4B3B8258E1}">
  <ds:schemaRefs/>
</ds:datastoreItem>
</file>

<file path=customXml/itemProps12.xml><?xml version="1.0" encoding="utf-8"?>
<ds:datastoreItem xmlns:ds="http://schemas.openxmlformats.org/officeDocument/2006/customXml" ds:itemID="{CE7A6185-E15E-44DF-9C90-28D23E18D228}">
  <ds:schemaRefs>
    <ds:schemaRef ds:uri="http://schemas.microsoft.com/sharepoint/v3/contenttype/forms"/>
  </ds:schemaRefs>
</ds:datastoreItem>
</file>

<file path=customXml/itemProps13.xml><?xml version="1.0" encoding="utf-8"?>
<ds:datastoreItem xmlns:ds="http://schemas.openxmlformats.org/officeDocument/2006/customXml" ds:itemID="{46FF4F90-A699-4AD5-8A11-1C15E302C106}">
  <ds:schemaRefs/>
</ds:datastoreItem>
</file>

<file path=customXml/itemProps14.xml><?xml version="1.0" encoding="utf-8"?>
<ds:datastoreItem xmlns:ds="http://schemas.openxmlformats.org/officeDocument/2006/customXml" ds:itemID="{A0867DD7-89EE-4DC4-90BE-A7D2F91DFE5E}">
  <ds:schemaRefs/>
</ds:datastoreItem>
</file>

<file path=customXml/itemProps15.xml><?xml version="1.0" encoding="utf-8"?>
<ds:datastoreItem xmlns:ds="http://schemas.openxmlformats.org/officeDocument/2006/customXml" ds:itemID="{D106A76C-EFC9-4EC0-8305-82E842362DBE}">
  <ds:schemaRefs/>
</ds:datastoreItem>
</file>

<file path=customXml/itemProps16.xml><?xml version="1.0" encoding="utf-8"?>
<ds:datastoreItem xmlns:ds="http://schemas.openxmlformats.org/officeDocument/2006/customXml" ds:itemID="{3CD53294-610D-4C30-A5F8-B22E2F3A21BC}">
  <ds:schemaRefs/>
</ds:datastoreItem>
</file>

<file path=customXml/itemProps17.xml><?xml version="1.0" encoding="utf-8"?>
<ds:datastoreItem xmlns:ds="http://schemas.openxmlformats.org/officeDocument/2006/customXml" ds:itemID="{68C12484-0DE4-4168-ABF0-10E641840A11}">
  <ds:schemaRefs/>
</ds:datastoreItem>
</file>

<file path=customXml/itemProps18.xml><?xml version="1.0" encoding="utf-8"?>
<ds:datastoreItem xmlns:ds="http://schemas.openxmlformats.org/officeDocument/2006/customXml" ds:itemID="{04A5EC1B-F0BD-4AE4-9576-B7ED5BA66945}">
  <ds:schemaRefs/>
</ds:datastoreItem>
</file>

<file path=customXml/itemProps19.xml><?xml version="1.0" encoding="utf-8"?>
<ds:datastoreItem xmlns:ds="http://schemas.openxmlformats.org/officeDocument/2006/customXml" ds:itemID="{8E62D99E-67C1-47E9-8F3A-429214352016}">
  <ds:schemaRefs/>
</ds:datastoreItem>
</file>

<file path=customXml/itemProps20.xml><?xml version="1.0" encoding="utf-8"?>
<ds:datastoreItem xmlns:ds="http://schemas.openxmlformats.org/officeDocument/2006/customXml" ds:itemID="{FE7A37F9-2B4D-42EB-843F-6D3C5C863774}">
  <ds:schemaRefs/>
</ds:datastoreItem>
</file>

<file path=customXml/itemProps21.xml><?xml version="1.0" encoding="utf-8"?>
<ds:datastoreItem xmlns:ds="http://schemas.openxmlformats.org/officeDocument/2006/customXml" ds:itemID="{4360D9D0-FDD9-4ED3-8E11-6AF6F6C824BD}">
  <ds:schemaRefs/>
</ds:datastoreItem>
</file>

<file path=customXml/itemProps22.xml><?xml version="1.0" encoding="utf-8"?>
<ds:datastoreItem xmlns:ds="http://schemas.openxmlformats.org/officeDocument/2006/customXml" ds:itemID="{68A48CB6-BD0D-4923-9904-A1B6E74851B2}">
  <ds:schemaRefs/>
</ds:datastoreItem>
</file>

<file path=customXml/itemProps23.xml><?xml version="1.0" encoding="utf-8"?>
<ds:datastoreItem xmlns:ds="http://schemas.openxmlformats.org/officeDocument/2006/customXml" ds:itemID="{BA625DAA-7A71-4370-A4C1-F1325D0A9D02}">
  <ds:schemaRefs/>
</ds:datastoreItem>
</file>

<file path=customXml/itemProps24.xml><?xml version="1.0" encoding="utf-8"?>
<ds:datastoreItem xmlns:ds="http://schemas.openxmlformats.org/officeDocument/2006/customXml" ds:itemID="{F78B591F-C35A-4D71-9E10-17FF21308DD2}">
  <ds:schemaRefs/>
</ds:datastoreItem>
</file>

<file path=customXml/itemProps25.xml><?xml version="1.0" encoding="utf-8"?>
<ds:datastoreItem xmlns:ds="http://schemas.openxmlformats.org/officeDocument/2006/customXml" ds:itemID="{214A05E7-7A2E-4110-AB11-058CC49D8D9A}">
  <ds:schemaRefs/>
</ds:datastoreItem>
</file>

<file path=customXml/itemProps26.xml><?xml version="1.0" encoding="utf-8"?>
<ds:datastoreItem xmlns:ds="http://schemas.openxmlformats.org/officeDocument/2006/customXml" ds:itemID="{6E8440F3-097F-46F2-852F-D5F80B4B895B}">
  <ds:schemaRefs/>
</ds:datastoreItem>
</file>

<file path=customXml/itemProps27.xml><?xml version="1.0" encoding="utf-8"?>
<ds:datastoreItem xmlns:ds="http://schemas.openxmlformats.org/officeDocument/2006/customXml" ds:itemID="{AB245D20-11FB-4139-B585-2795D638AA25}">
  <ds:schemaRefs>
    <ds:schemaRef ds:uri="55bc9303-f614-4265-b425-29dfa21b22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8.xml><?xml version="1.0" encoding="utf-8"?>
<ds:datastoreItem xmlns:ds="http://schemas.openxmlformats.org/officeDocument/2006/customXml" ds:itemID="{0FE1F8F1-EF41-47A5-A81C-EF21CDAE4547}">
  <ds:schemaRefs/>
</ds:datastoreItem>
</file>

<file path=customXml/itemProps29.xml><?xml version="1.0" encoding="utf-8"?>
<ds:datastoreItem xmlns:ds="http://schemas.openxmlformats.org/officeDocument/2006/customXml" ds:itemID="{1751FC0F-CC58-4316-B4C8-0A3DE59C95B7}">
  <ds:schemaRefs/>
</ds:datastoreItem>
</file>

<file path=customXml/itemProps30.xml><?xml version="1.0" encoding="utf-8"?>
<ds:datastoreItem xmlns:ds="http://schemas.openxmlformats.org/officeDocument/2006/customXml" ds:itemID="{D1B83CB0-71C1-435C-B33E-6E90E79D11A4}">
  <ds:schemaRefs/>
</ds:datastoreItem>
</file>

<file path=customXml/itemProps31.xml><?xml version="1.0" encoding="utf-8"?>
<ds:datastoreItem xmlns:ds="http://schemas.openxmlformats.org/officeDocument/2006/customXml" ds:itemID="{CF97C026-0A9C-4143-9432-90CC5CDA05D3}">
  <ds:schemaRefs/>
</ds:datastoreItem>
</file>

<file path=customXml/itemProps32.xml><?xml version="1.0" encoding="utf-8"?>
<ds:datastoreItem xmlns:ds="http://schemas.openxmlformats.org/officeDocument/2006/customXml" ds:itemID="{5DA65C34-C72C-44D1-B030-6A9CEA87D6A5}">
  <ds:schemaRefs/>
</ds:datastoreItem>
</file>

<file path=customXml/itemProps33.xml><?xml version="1.0" encoding="utf-8"?>
<ds:datastoreItem xmlns:ds="http://schemas.openxmlformats.org/officeDocument/2006/customXml" ds:itemID="{A21E89D4-F487-4C26-905C-EE6B6998C9D1}">
  <ds:schemaRefs/>
</ds:datastoreItem>
</file>

<file path=customXml/itemProps34.xml><?xml version="1.0" encoding="utf-8"?>
<ds:datastoreItem xmlns:ds="http://schemas.openxmlformats.org/officeDocument/2006/customXml" ds:itemID="{BC3085B0-9751-4C0A-ACD6-ABA2085AAC3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5.xml><?xml version="1.0" encoding="utf-8"?>
<ds:datastoreItem xmlns:ds="http://schemas.openxmlformats.org/officeDocument/2006/customXml" ds:itemID="{7FEA1E6D-AEEC-41D9-9E9A-45BA2EAE165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technology_HMM</Template>
  <TotalTime>15947</TotalTime>
  <Words>1849</Words>
  <Application>Microsoft Macintosh PowerPoint</Application>
  <PresentationFormat>Custom</PresentationFormat>
  <Paragraphs>245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ＭＳ Ｐゴシック</vt:lpstr>
      <vt:lpstr>Arial</vt:lpstr>
      <vt:lpstr>Cambria Math</vt:lpstr>
      <vt:lpstr>Verdana</vt:lpstr>
      <vt:lpstr>Blank</vt:lpstr>
      <vt:lpstr>PowerPoint Presentation</vt:lpstr>
      <vt:lpstr>Predator-Prey modelling. Polar bear – Seal interaction in the Arctic</vt:lpstr>
      <vt:lpstr>Polar Bear and Ringed seal in Eastern Greenland</vt:lpstr>
      <vt:lpstr>The model: baseline sketch</vt:lpstr>
      <vt:lpstr>The model: parameters &amp; equations</vt:lpstr>
      <vt:lpstr>Results - baseline</vt:lpstr>
      <vt:lpstr>Results - baseline</vt:lpstr>
      <vt:lpstr>Logistic growth and unsustainable removal</vt:lpstr>
      <vt:lpstr>The model: sketch</vt:lpstr>
      <vt:lpstr>The model: Parameters &amp; Equation  </vt:lpstr>
      <vt:lpstr>Results – Logistic growth and unsustainable removal</vt:lpstr>
      <vt:lpstr>Results – Migration &amp; added mortality (hunger) </vt:lpstr>
      <vt:lpstr>Logistic growth and controlled removal</vt:lpstr>
      <vt:lpstr>The model: sketch</vt:lpstr>
      <vt:lpstr>The model: equations &amp; parameters</vt:lpstr>
      <vt:lpstr>Results – Logistic growth and controlled removal</vt:lpstr>
      <vt:lpstr>Results – Logistic growth and controlled removal </vt:lpstr>
      <vt:lpstr>PowerPoint Presentation</vt:lpstr>
      <vt:lpstr>Evolution of the extended model</vt:lpstr>
      <vt:lpstr>AI declaration &amp; code</vt:lpstr>
      <vt:lpstr>References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Azra Su Erol</dc:creator>
  <cp:lastModifiedBy>pol bassols armengol</cp:lastModifiedBy>
  <cp:revision>110</cp:revision>
  <dcterms:created xsi:type="dcterms:W3CDTF">2026-03-22T13:11:17Z</dcterms:created>
  <dcterms:modified xsi:type="dcterms:W3CDTF">2026-09-21T07:51:48Z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2019-06-10T12:55:58.1255819Z</vt:lpwstr>
  </property>
  <property fmtid="{D5CDD505-2E9C-101B-9397-08002B2CF9AE}" pid="4" name="ContentTypeId">
    <vt:lpwstr>0x010100C14EE722AF17BA40AB2CD9D549161871</vt:lpwstr>
  </property>
</Properties>
</file>